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1df1c6b-7d8b-7bcb-63ad-1e66320e8295}">
          <p14:sldIdLst>
            <p14:sldId id="256"/>
          </p14:sldIdLst>
        </p14:section>
        <p14:section name="Method" id="{690d5996-64f4-094a-a153-3a9e8dad7876}">
          <p14:sldIdLst>
            <p14:sldId id="257"/>
            <p14:sldId id="258"/>
            <p14:sldId id="259"/>
          </p14:sldIdLst>
        </p14:section>
        <p14:section name="Results" id="{323dfdf6-cd44-0e90-91a6-c081ca27b4b8}">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Correlation</c:v>
                </c:pt>
              </c:strCache>
            </c:strRef>
          </c:tx>
          <c:spPr>
            <a:solidFill>
              <a:srgbClr val="2A9D8F"/>
            </a:solidFill>
            <a:effectLst/>
          </c:spPr>
          <c:invertIfNegative val="0"/>
          <c:dLbls>
            <c:numFmt formatCode="0.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cat>
            <c:multiLvlStrRef>
              <c:f>Sheet1!$A$2:$A$6</c:f>
              <c:multiLvlStrCache>
                <c:ptCount val="5"/>
                <c:lvl>
                  <c:pt idx="0">
                    <c:v>Total working years</c:v>
                  </c:pt>
                  <c:pt idx="1">
                    <c:v>Job level</c:v>
                  </c:pt>
                  <c:pt idx="2">
                    <c:v>Years in role</c:v>
                  </c:pt>
                  <c:pt idx="3">
                    <c:v>Monthly income</c:v>
                  </c:pt>
                  <c:pt idx="4">
                    <c:v>Age</c:v>
                  </c:pt>
                </c:lvl>
              </c:multiLvlStrCache>
            </c:multiLvlStrRef>
          </c:cat>
          <c:val>
            <c:numRef>
              <c:f>Sheet1!$B$2:$B$6</c:f>
              <c:numCache>
                <c:formatCode>General</c:formatCode>
                <c:ptCount val="5"/>
                <c:pt idx="0">
                  <c:v>-0.171</c:v>
                </c:pt>
                <c:pt idx="1">
                  <c:v>-0.169</c:v>
                </c:pt>
                <c:pt idx="2">
                  <c:v>-0.161</c:v>
                </c:pt>
                <c:pt idx="3">
                  <c:v>-0.16</c:v>
                </c:pt>
                <c:pt idx="4">
                  <c:v>-0.159</c:v>
                </c:pt>
              </c:numCache>
            </c:numRef>
          </c:val>
        </c:ser>
        <c:dLbls>
          <c:numFmt formatCode="0.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2"/>
        <c:crosses val="autoZero"/>
        <c:auto val="1"/>
        <c:lblAlgn val="ctr"/>
        <c:noMultiLvlLbl val="1"/>
      </c:catAx>
      <c:valAx>
        <c:axId val="2094734552"/>
        <c:scaling>
          <c:orientation val="minMax"/>
          <c:max val="0"/>
          <c:min val="-0.2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Overtime</c:v>
                </c:pt>
              </c:strCache>
            </c:strRef>
          </c:tx>
          <c:spPr>
            <a:solidFill>
              <a:srgbClr val="B8C1CC"/>
            </a:solidFill>
            <a:effectLst/>
          </c:spPr>
          <c:invertIfNegative val="0"/>
          <c:dLbls>
            <c:numFmt formatCode="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B8C1CC"/>
              </a:solidFill>
              <a:effectLst/>
            </c:spPr>
          </c:dPt>
          <c:dPt>
            <c:idx val="1"/>
            <c:invertIfNegative val="0"/>
            <c:bubble3D val="0"/>
            <c:spPr>
              <a:solidFill>
                <a:srgbClr val="D1495B"/>
              </a:solidFill>
              <a:effectLst/>
            </c:spPr>
          </c:dPt>
          <c:cat>
            <c:multiLvlStrRef>
              <c:f>Sheet1!$A$2:$A$3</c:f>
              <c:multiLvlStrCache>
                <c:ptCount val="2"/>
                <c:lvl>
                  <c:pt idx="0">
                    <c:v>No overtime</c:v>
                  </c:pt>
                  <c:pt idx="1">
                    <c:v>Overtime</c:v>
                  </c:pt>
                </c:lvl>
              </c:multiLvlStrCache>
            </c:multiLvlStrRef>
          </c:cat>
          <c:val>
            <c:numRef>
              <c:f>Sheet1!$B$2:$B$3</c:f>
              <c:numCache>
                <c:formatCode>General</c:formatCode>
                <c:ptCount val="2"/>
                <c:pt idx="0">
                  <c:v>10.4</c:v>
                </c:pt>
                <c:pt idx="1">
                  <c:v>30.5</c:v>
                </c:pt>
              </c:numCache>
            </c:numRef>
          </c:val>
        </c:ser>
        <c:dLbls>
          <c:numFmt formatCode="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46A"/>
                </a:solidFill>
                <a:latin typeface="+mn-lt"/>
              </a:defRPr>
            </a:pPr>
            <a:endParaRPr lang="en-US"/>
          </a:p>
        </c:txPr>
        <c:crossAx val="2094734552"/>
        <c:crosses val="autoZero"/>
        <c:auto val="1"/>
        <c:lblAlgn val="ctr"/>
        <c:noMultiLvlLbl val="1"/>
      </c:catAx>
      <c:valAx>
        <c:axId val="2094734552"/>
        <c:scaling>
          <c:orientation val="minMax"/>
          <c:max val="36.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Monthly income (USD)</c:v>
                </c:pt>
              </c:strCache>
            </c:strRef>
          </c:tx>
          <c:spPr>
            <a:solidFill>
              <a:srgbClr val="D1495B"/>
            </a:solidFill>
            <a:effectLst/>
          </c:spPr>
          <c:invertIfNegative val="0"/>
          <c:dLbls>
            <c:numFmt formatCode="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B8C1CC"/>
              </a:solidFill>
              <a:effectLst/>
            </c:spPr>
          </c:dPt>
          <c:dPt>
            <c:idx val="2"/>
            <c:invertIfNegative val="0"/>
            <c:bubble3D val="0"/>
            <c:spPr>
              <a:solidFill>
                <a:srgbClr val="B8C1CC"/>
              </a:solidFill>
              <a:effectLst/>
            </c:spPr>
          </c:dPt>
          <c:dPt>
            <c:idx val="3"/>
            <c:invertIfNegative val="0"/>
            <c:bubble3D val="0"/>
            <c:spPr>
              <a:solidFill>
                <a:srgbClr val="B8C1CC"/>
              </a:solidFill>
              <a:effectLst/>
            </c:spPr>
          </c:dPt>
          <c:dPt>
            <c:idx val="4"/>
            <c:invertIfNegative val="0"/>
            <c:bubble3D val="0"/>
            <c:spPr>
              <a:solidFill>
                <a:srgbClr val="B8C1CC"/>
              </a:solidFill>
              <a:effectLst/>
            </c:spPr>
          </c:dPt>
          <c:cat>
            <c:multiLvlStrRef>
              <c:f>Sheet1!$A$2:$A$6</c:f>
              <c:multiLvlStrCache>
                <c:ptCount val="5"/>
                <c:lvl>
                  <c:pt idx="0">
                    <c:v>&lt;3K</c:v>
                  </c:pt>
                  <c:pt idx="1">
                    <c:v>3-5K</c:v>
                  </c:pt>
                  <c:pt idx="2">
                    <c:v>5-8K</c:v>
                  </c:pt>
                  <c:pt idx="3">
                    <c:v>8-12K</c:v>
                  </c:pt>
                  <c:pt idx="4">
                    <c:v>12K+</c:v>
                  </c:pt>
                </c:lvl>
              </c:multiLvlStrCache>
            </c:multiLvlStrRef>
          </c:cat>
          <c:val>
            <c:numRef>
              <c:f>Sheet1!$B$2:$B$6</c:f>
              <c:numCache>
                <c:formatCode>General</c:formatCode>
                <c:ptCount val="5"/>
                <c:pt idx="0">
                  <c:v>28.6</c:v>
                </c:pt>
                <c:pt idx="1">
                  <c:v>14.1</c:v>
                </c:pt>
                <c:pt idx="2">
                  <c:v>10</c:v>
                </c:pt>
                <c:pt idx="3">
                  <c:v>15.6</c:v>
                </c:pt>
                <c:pt idx="4">
                  <c:v>5.6</c:v>
                </c:pt>
              </c:numCache>
            </c:numRef>
          </c:val>
        </c:ser>
        <c:dLbls>
          <c:numFmt formatCode="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46A"/>
                </a:solidFill>
                <a:latin typeface="+mn-lt"/>
              </a:defRPr>
            </a:pPr>
            <a:endParaRPr lang="en-US"/>
          </a:p>
        </c:txPr>
        <c:crossAx val="2094734552"/>
        <c:crosses val="autoZero"/>
        <c:auto val="1"/>
        <c:lblAlgn val="ctr"/>
        <c:noMultiLvlLbl val="1"/>
      </c:catAx>
      <c:valAx>
        <c:axId val="2094734552"/>
        <c:scaling>
          <c:orientation val="minMax"/>
          <c:max val="34.3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Years at company</c:v>
                </c:pt>
              </c:strCache>
            </c:strRef>
          </c:tx>
          <c:spPr>
            <a:solidFill>
              <a:srgbClr val="D1495B"/>
            </a:solidFill>
            <a:effectLst/>
          </c:spPr>
          <c:invertIfNegative val="0"/>
          <c:dLbls>
            <c:numFmt formatCode="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B8C1CC"/>
              </a:solidFill>
              <a:effectLst/>
            </c:spPr>
          </c:dPt>
          <c:dPt>
            <c:idx val="2"/>
            <c:invertIfNegative val="0"/>
            <c:bubble3D val="0"/>
            <c:spPr>
              <a:solidFill>
                <a:srgbClr val="B8C1CC"/>
              </a:solidFill>
              <a:effectLst/>
            </c:spPr>
          </c:dPt>
          <c:dPt>
            <c:idx val="3"/>
            <c:invertIfNegative val="0"/>
            <c:bubble3D val="0"/>
            <c:spPr>
              <a:solidFill>
                <a:srgbClr val="B8C1CC"/>
              </a:solidFill>
              <a:effectLst/>
            </c:spPr>
          </c:dPt>
          <c:dPt>
            <c:idx val="4"/>
            <c:invertIfNegative val="0"/>
            <c:bubble3D val="0"/>
            <c:spPr>
              <a:solidFill>
                <a:srgbClr val="B8C1CC"/>
              </a:solidFill>
              <a:effectLst/>
            </c:spPr>
          </c:dPt>
          <c:cat>
            <c:multiLvlStrRef>
              <c:f>Sheet1!$A$2:$A$6</c:f>
              <c:multiLvlStrCache>
                <c:ptCount val="5"/>
                <c:lvl>
                  <c:pt idx="0">
                    <c:v>0-1</c:v>
                  </c:pt>
                  <c:pt idx="1">
                    <c:v>2-3</c:v>
                  </c:pt>
                  <c:pt idx="2">
                    <c:v>4-5</c:v>
                  </c:pt>
                  <c:pt idx="3">
                    <c:v>6-10</c:v>
                  </c:pt>
                  <c:pt idx="4">
                    <c:v>10+</c:v>
                  </c:pt>
                </c:lvl>
              </c:multiLvlStrCache>
            </c:multiLvlStrRef>
          </c:cat>
          <c:val>
            <c:numRef>
              <c:f>Sheet1!$B$2:$B$6</c:f>
              <c:numCache>
                <c:formatCode>General</c:formatCode>
                <c:ptCount val="5"/>
                <c:pt idx="0">
                  <c:v>34.9</c:v>
                </c:pt>
                <c:pt idx="1">
                  <c:v>18.4</c:v>
                </c:pt>
                <c:pt idx="2">
                  <c:v>13.1</c:v>
                </c:pt>
                <c:pt idx="3">
                  <c:v>12.3</c:v>
                </c:pt>
                <c:pt idx="4">
                  <c:v>8.1</c:v>
                </c:pt>
              </c:numCache>
            </c:numRef>
          </c:val>
        </c:ser>
        <c:dLbls>
          <c:numFmt formatCode="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46A"/>
                </a:solidFill>
                <a:latin typeface="+mn-lt"/>
              </a:defRPr>
            </a:pPr>
            <a:endParaRPr lang="en-US"/>
          </a:p>
        </c:txPr>
        <c:crossAx val="2094734552"/>
        <c:crosses val="autoZero"/>
        <c:auto val="1"/>
        <c:lblAlgn val="ctr"/>
        <c:noMultiLvlLbl val="1"/>
      </c:catAx>
      <c:valAx>
        <c:axId val="2094734552"/>
        <c:scaling>
          <c:orientation val="minMax"/>
          <c:max val="41.87999999999999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company loses about one in six employees. The goal is to find where the exits cluster and why, then plan a targeted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1,470 employees and 35 columns. The target is Attrition: 237 yes, 1,233 no. Columns fall into five groups: personal, job, pay, experience and satisfaction.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was already tidy: no missing values or duplicates. We removed EmployeeCount, Over18 and StandardHours because every row has the same value. We then added readable labels and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measured the baseline, then compared leaving rates between groups, ranked numeric drivers by correlation and finally combined factors to find the hottest segment. Correlations are modest, which is why group comparisons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Overtime staff leave at 30.5% vs 10.4%. Pay under 3K: 28.6%. First year: 34.9%. Sales Representatives lose 39.8%, frequent travelers 24.9%, and people with no stock options 24.4%. The company average is 16.1%.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entry-level staff who work overtime leave, vs 6.9% for staff with no overtime and income of 5K or more. Plan: control overtime, fix entry-level pay, build a first-year program, and extend stock options. The 29 fewer exits is a scenario, not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48463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4846320" cy="1371600"/>
          </a:xfrm>
          <a:prstGeom prst="rect">
            <a:avLst/>
          </a:prstGeom>
          <a:noFill/>
          <a:ln/>
        </p:spPr>
        <p:txBody>
          <a:bodyPr wrap="square" lIns="0" tIns="0" rIns="0" bIns="0" rtlCol="0" anchor="t"/>
          <a:lstStyle/>
          <a:p>
            <a:pPr algn="l" indent="0" marL="0">
              <a:buNone/>
            </a:pPr>
            <a:r>
              <a:rPr lang="en-US" sz="4000" b="1" dirty="0">
                <a:solidFill>
                  <a:schemeClr val="bg1"/>
                </a:solidFill>
              </a:rPr>
              <a:t>Why do employees leave?</a:t>
            </a:r>
            <a:endParaRPr lang="en-US" sz="4000" dirty="0"/>
          </a:p>
        </p:txBody>
      </p:sp>
      <p:sp>
        <p:nvSpPr>
          <p:cNvPr id="3" name="Subtitle"/>
          <p:cNvSpPr txBox="1"/>
          <p:nvPr/>
        </p:nvSpPr>
        <p:spPr>
          <a:xfrm>
            <a:off x="457200" y="1920240"/>
            <a:ext cx="4846320" cy="365760"/>
          </a:xfrm>
          <a:prstGeom prst="rect">
            <a:avLst/>
          </a:prstGeom>
          <a:noFill/>
          <a:ln/>
        </p:spPr>
        <p:txBody>
          <a:bodyPr wrap="square" lIns="0" tIns="0" rIns="0" bIns="0" rtlCol="0" anchor="ctr"/>
          <a:lstStyle/>
          <a:p>
            <a:pPr indent="0" marL="0">
              <a:buNone/>
            </a:pPr>
            <a:r>
              <a:rPr lang="en-US" sz="1600" dirty="0">
                <a:solidFill>
                  <a:schemeClr val="accent6"/>
                </a:solidFill>
              </a:rPr>
              <a:t>HR Employee Attrition analysis</a:t>
            </a:r>
            <a:endParaRPr lang="en-US" sz="1600" dirty="0"/>
          </a:p>
        </p:txBody>
      </p:sp>
      <p:sp>
        <p:nvSpPr>
          <p:cNvPr id="4" name="Idea label"/>
          <p:cNvSpPr txBox="1"/>
          <p:nvPr/>
        </p:nvSpPr>
        <p:spPr>
          <a:xfrm>
            <a:off x="457200" y="2514600"/>
            <a:ext cx="4846320" cy="274320"/>
          </a:xfrm>
          <a:prstGeom prst="rect">
            <a:avLst/>
          </a:prstGeom>
          <a:noFill/>
          <a:ln/>
        </p:spPr>
        <p:txBody>
          <a:bodyPr wrap="square" lIns="0" tIns="0" rIns="0" bIns="0" rtlCol="0" anchor="ctr"/>
          <a:lstStyle/>
          <a:p>
            <a:pPr indent="0" marL="0">
              <a:buNone/>
            </a:pPr>
            <a:r>
              <a:rPr lang="en-US" sz="1200" b="1" dirty="0">
                <a:solidFill>
                  <a:schemeClr val="accent3"/>
                </a:solidFill>
              </a:rPr>
              <a:t>THE IDEA</a:t>
            </a:r>
            <a:endParaRPr lang="en-US" sz="1200" dirty="0"/>
          </a:p>
        </p:txBody>
      </p:sp>
      <p:sp>
        <p:nvSpPr>
          <p:cNvPr id="5" name="Idea text"/>
          <p:cNvSpPr txBox="1"/>
          <p:nvPr/>
        </p:nvSpPr>
        <p:spPr>
          <a:xfrm>
            <a:off x="457200" y="2788920"/>
            <a:ext cx="4846320" cy="685800"/>
          </a:xfrm>
          <a:prstGeom prst="rect">
            <a:avLst/>
          </a:prstGeom>
          <a:noFill/>
          <a:ln/>
        </p:spPr>
        <p:txBody>
          <a:bodyPr wrap="square" lIns="0" tIns="0" rIns="0" bIns="0" rtlCol="0" anchor="ctr"/>
          <a:lstStyle/>
          <a:p>
            <a:pPr indent="0" marL="0">
              <a:buNone/>
            </a:pPr>
            <a:r>
              <a:rPr lang="en-US" sz="1400" dirty="0">
                <a:solidFill>
                  <a:schemeClr val="bg1"/>
                </a:solidFill>
              </a:rPr>
              <a:t>1 in 6 employees leaves. Exits are not random, so we look for who leaves and where.</a:t>
            </a:r>
            <a:endParaRPr lang="en-US" sz="1400" dirty="0"/>
          </a:p>
        </p:txBody>
      </p:sp>
      <p:sp>
        <p:nvSpPr>
          <p:cNvPr id="6" name="Goal label"/>
          <p:cNvSpPr txBox="1"/>
          <p:nvPr/>
        </p:nvSpPr>
        <p:spPr>
          <a:xfrm>
            <a:off x="457200" y="3566160"/>
            <a:ext cx="4846320" cy="274320"/>
          </a:xfrm>
          <a:prstGeom prst="rect">
            <a:avLst/>
          </a:prstGeom>
          <a:noFill/>
          <a:ln/>
        </p:spPr>
        <p:txBody>
          <a:bodyPr wrap="square" lIns="0" tIns="0" rIns="0" bIns="0" rtlCol="0" anchor="ctr"/>
          <a:lstStyle/>
          <a:p>
            <a:pPr indent="0" marL="0">
              <a:buNone/>
            </a:pPr>
            <a:r>
              <a:rPr lang="en-US" sz="1200" b="1" dirty="0">
                <a:solidFill>
                  <a:schemeClr val="accent3"/>
                </a:solidFill>
              </a:rPr>
              <a:t>THE GOAL</a:t>
            </a:r>
            <a:endParaRPr lang="en-US" sz="1200" dirty="0"/>
          </a:p>
        </p:txBody>
      </p:sp>
      <p:sp>
        <p:nvSpPr>
          <p:cNvPr id="7" name="Goal text"/>
          <p:cNvSpPr txBox="1"/>
          <p:nvPr/>
        </p:nvSpPr>
        <p:spPr>
          <a:xfrm>
            <a:off x="457200" y="3840480"/>
            <a:ext cx="4846320" cy="685800"/>
          </a:xfrm>
          <a:prstGeom prst="rect">
            <a:avLst/>
          </a:prstGeom>
          <a:noFill/>
          <a:ln/>
        </p:spPr>
        <p:txBody>
          <a:bodyPr wrap="square" lIns="0" tIns="0" rIns="0" bIns="0" rtlCol="0" anchor="ctr"/>
          <a:lstStyle/>
          <a:p>
            <a:pPr indent="0" marL="0">
              <a:buNone/>
            </a:pPr>
            <a:r>
              <a:rPr lang="en-US" sz="1400" dirty="0">
                <a:solidFill>
                  <a:schemeClr val="bg1"/>
                </a:solidFill>
              </a:rPr>
              <a:t>Find the root causes with data, then design a targeted retention plan.</a:t>
            </a:r>
            <a:endParaRPr lang="en-US" sz="1400" dirty="0"/>
          </a:p>
        </p:txBody>
      </p:sp>
      <p:sp>
        <p:nvSpPr>
          <p:cNvPr id="8" name="Stat card"/>
          <p:cNvSpPr/>
          <p:nvPr/>
        </p:nvSpPr>
        <p:spPr>
          <a:xfrm>
            <a:off x="5760720" y="548640"/>
            <a:ext cx="2926080" cy="4023360"/>
          </a:xfrm>
          <a:prstGeom prst="roundRect">
            <a:avLst>
              <a:gd name="adj" fmla="val 3125"/>
            </a:avLst>
          </a:prstGeom>
          <a:solidFill>
            <a:schemeClr val="bg1"/>
          </a:solidFill>
          <a:ln w="12700">
            <a:solidFill>
              <a:schemeClr val="bg1"/>
            </a:solidFill>
            <a:prstDash val="solid"/>
          </a:ln>
        </p:spPr>
      </p:sp>
      <p:sp>
        <p:nvSpPr>
          <p:cNvPr id="9" name="Attrition rate"/>
          <p:cNvSpPr txBox="1"/>
          <p:nvPr/>
        </p:nvSpPr>
        <p:spPr>
          <a:xfrm>
            <a:off x="5760720" y="1188720"/>
            <a:ext cx="2926080" cy="1005840"/>
          </a:xfrm>
          <a:prstGeom prst="rect">
            <a:avLst/>
          </a:prstGeom>
          <a:noFill/>
          <a:ln/>
        </p:spPr>
        <p:txBody>
          <a:bodyPr wrap="square" lIns="0" tIns="0" rIns="0" bIns="0" rtlCol="0" anchor="ctr"/>
          <a:lstStyle/>
          <a:p>
            <a:pPr algn="ctr" indent="0" marL="0">
              <a:buNone/>
            </a:pPr>
            <a:r>
              <a:rPr lang="en-US" sz="6000" b="1" dirty="0">
                <a:solidFill>
                  <a:schemeClr val="accent1"/>
                </a:solidFill>
              </a:rPr>
              <a:t>16.1%</a:t>
            </a:r>
            <a:endParaRPr lang="en-US" sz="6000" dirty="0"/>
          </a:p>
        </p:txBody>
      </p:sp>
      <p:sp>
        <p:nvSpPr>
          <p:cNvPr id="10" name="Stat caption"/>
          <p:cNvSpPr txBox="1"/>
          <p:nvPr/>
        </p:nvSpPr>
        <p:spPr>
          <a:xfrm>
            <a:off x="5943600" y="2240280"/>
            <a:ext cx="2560320" cy="548640"/>
          </a:xfrm>
          <a:prstGeom prst="rect">
            <a:avLst/>
          </a:prstGeom>
          <a:noFill/>
          <a:ln/>
        </p:spPr>
        <p:txBody>
          <a:bodyPr wrap="square" lIns="0" tIns="0" rIns="0" bIns="0" rtlCol="0" anchor="ctr"/>
          <a:lstStyle/>
          <a:p>
            <a:pPr algn="ctr" indent="0" marL="0">
              <a:buNone/>
            </a:pPr>
            <a:r>
              <a:rPr lang="en-US" sz="1400" dirty="0">
                <a:solidFill>
                  <a:schemeClr val="tx2"/>
                </a:solidFill>
              </a:rPr>
              <a:t>of employees left the company</a:t>
            </a:r>
            <a:endParaRPr lang="en-US" sz="1400" dirty="0"/>
          </a:p>
        </p:txBody>
      </p:sp>
      <p:sp>
        <p:nvSpPr>
          <p:cNvPr id="11" name="Leavers"/>
          <p:cNvSpPr txBox="1"/>
          <p:nvPr/>
        </p:nvSpPr>
        <p:spPr>
          <a:xfrm>
            <a:off x="5760720" y="3017520"/>
            <a:ext cx="2926080" cy="640080"/>
          </a:xfrm>
          <a:prstGeom prst="rect">
            <a:avLst/>
          </a:prstGeom>
          <a:noFill/>
          <a:ln/>
        </p:spPr>
        <p:txBody>
          <a:bodyPr wrap="square" lIns="0" tIns="0" rIns="0" bIns="0" rtlCol="0" anchor="ctr"/>
          <a:lstStyle/>
          <a:p>
            <a:pPr algn="ctr" indent="0" marL="0">
              <a:buNone/>
            </a:pPr>
            <a:r>
              <a:rPr lang="en-US" sz="3600" b="1" dirty="0">
                <a:solidFill>
                  <a:schemeClr val="tx1"/>
                </a:solidFill>
              </a:rPr>
              <a:t>237</a:t>
            </a:r>
            <a:endParaRPr lang="en-US" sz="3600" dirty="0"/>
          </a:p>
        </p:txBody>
      </p:sp>
      <p:sp>
        <p:nvSpPr>
          <p:cNvPr id="12" name="Leavers caption"/>
          <p:cNvSpPr txBox="1"/>
          <p:nvPr/>
        </p:nvSpPr>
        <p:spPr>
          <a:xfrm>
            <a:off x="5943600" y="3657600"/>
            <a:ext cx="2560320" cy="365760"/>
          </a:xfrm>
          <a:prstGeom prst="rect">
            <a:avLst/>
          </a:prstGeom>
          <a:noFill/>
          <a:ln/>
        </p:spPr>
        <p:txBody>
          <a:bodyPr wrap="square" lIns="0" tIns="0" rIns="0" bIns="0" rtlCol="0" anchor="ctr"/>
          <a:lstStyle/>
          <a:p>
            <a:pPr algn="ctr" indent="0" marL="0">
              <a:buNone/>
            </a:pPr>
            <a:r>
              <a:rPr lang="en-US" sz="1400" dirty="0">
                <a:solidFill>
                  <a:schemeClr val="tx2"/>
                </a:solidFill>
              </a:rPr>
              <a:t>out of 1,470 employees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The dataset</a:t>
            </a:r>
            <a:endParaRPr lang="en-US" sz="3400" dirty="0"/>
          </a:p>
        </p:txBody>
      </p:sp>
      <p:sp>
        <p:nvSpPr>
          <p:cNvPr id="3" name="Subtitle"/>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dirty="0">
                <a:solidFill>
                  <a:schemeClr val="tx2"/>
                </a:solidFill>
              </a:rPr>
              <a:t>HR records: one row per employee, one target column (Attrition)</a:t>
            </a:r>
            <a:endParaRPr lang="en-US" sz="1600" dirty="0"/>
          </a:p>
        </p:txBody>
      </p:sp>
      <p:sp>
        <p:nvSpPr>
          <p:cNvPr id="4" name="Tile 1"/>
          <p:cNvSpPr/>
          <p:nvPr/>
        </p:nvSpPr>
        <p:spPr>
          <a:xfrm>
            <a:off x="457200" y="1508760"/>
            <a:ext cx="2926080" cy="914400"/>
          </a:xfrm>
          <a:prstGeom prst="roundRect">
            <a:avLst>
              <a:gd name="adj" fmla="val 10000"/>
            </a:avLst>
          </a:prstGeom>
          <a:solidFill>
            <a:schemeClr val="bg2"/>
          </a:solidFill>
          <a:ln w="12700">
            <a:solidFill>
              <a:schemeClr val="bg2"/>
            </a:solidFill>
            <a:prstDash val="solid"/>
          </a:ln>
        </p:spPr>
      </p:sp>
      <p:sp>
        <p:nvSpPr>
          <p:cNvPr id="5" name="Tile value 1"/>
          <p:cNvSpPr txBox="1"/>
          <p:nvPr/>
        </p:nvSpPr>
        <p:spPr>
          <a:xfrm>
            <a:off x="640080" y="1581912"/>
            <a:ext cx="2560320" cy="502920"/>
          </a:xfrm>
          <a:prstGeom prst="rect">
            <a:avLst/>
          </a:prstGeom>
          <a:noFill/>
          <a:ln/>
        </p:spPr>
        <p:txBody>
          <a:bodyPr wrap="square" lIns="0" tIns="0" rIns="0" bIns="0" rtlCol="0" anchor="ctr"/>
          <a:lstStyle/>
          <a:p>
            <a:pPr indent="0" marL="0">
              <a:buNone/>
            </a:pPr>
            <a:r>
              <a:rPr lang="en-US" sz="2800" b="1" dirty="0">
                <a:solidFill>
                  <a:schemeClr val="accent1"/>
                </a:solidFill>
              </a:rPr>
              <a:t>1,470</a:t>
            </a:r>
            <a:endParaRPr lang="en-US" sz="2800" dirty="0"/>
          </a:p>
        </p:txBody>
      </p:sp>
      <p:sp>
        <p:nvSpPr>
          <p:cNvPr id="6" name="Tile label 1"/>
          <p:cNvSpPr txBox="1"/>
          <p:nvPr/>
        </p:nvSpPr>
        <p:spPr>
          <a:xfrm>
            <a:off x="640080" y="2075688"/>
            <a:ext cx="2560320" cy="274320"/>
          </a:xfrm>
          <a:prstGeom prst="rect">
            <a:avLst/>
          </a:prstGeom>
          <a:noFill/>
          <a:ln/>
        </p:spPr>
        <p:txBody>
          <a:bodyPr wrap="square" lIns="0" tIns="0" rIns="0" bIns="0" rtlCol="0" anchor="ctr"/>
          <a:lstStyle/>
          <a:p>
            <a:pPr indent="0" marL="0">
              <a:buNone/>
            </a:pPr>
            <a:r>
              <a:rPr lang="en-US" sz="1400" dirty="0">
                <a:solidFill>
                  <a:schemeClr val="tx2"/>
                </a:solidFill>
              </a:rPr>
              <a:t>employees (rows)</a:t>
            </a:r>
            <a:endParaRPr lang="en-US" sz="1400" dirty="0"/>
          </a:p>
        </p:txBody>
      </p:sp>
      <p:sp>
        <p:nvSpPr>
          <p:cNvPr id="7" name="Tile 2"/>
          <p:cNvSpPr/>
          <p:nvPr/>
        </p:nvSpPr>
        <p:spPr>
          <a:xfrm>
            <a:off x="457200" y="2560320"/>
            <a:ext cx="2926080" cy="914400"/>
          </a:xfrm>
          <a:prstGeom prst="roundRect">
            <a:avLst>
              <a:gd name="adj" fmla="val 10000"/>
            </a:avLst>
          </a:prstGeom>
          <a:solidFill>
            <a:schemeClr val="bg2"/>
          </a:solidFill>
          <a:ln w="12700">
            <a:solidFill>
              <a:schemeClr val="bg2"/>
            </a:solidFill>
            <a:prstDash val="solid"/>
          </a:ln>
        </p:spPr>
      </p:sp>
      <p:sp>
        <p:nvSpPr>
          <p:cNvPr id="8" name="Tile value 2"/>
          <p:cNvSpPr txBox="1"/>
          <p:nvPr/>
        </p:nvSpPr>
        <p:spPr>
          <a:xfrm>
            <a:off x="640080" y="2633472"/>
            <a:ext cx="2560320" cy="502920"/>
          </a:xfrm>
          <a:prstGeom prst="rect">
            <a:avLst/>
          </a:prstGeom>
          <a:noFill/>
          <a:ln/>
        </p:spPr>
        <p:txBody>
          <a:bodyPr wrap="square" lIns="0" tIns="0" rIns="0" bIns="0" rtlCol="0" anchor="ctr"/>
          <a:lstStyle/>
          <a:p>
            <a:pPr indent="0" marL="0">
              <a:buNone/>
            </a:pPr>
            <a:r>
              <a:rPr lang="en-US" sz="2800" b="1" dirty="0">
                <a:solidFill>
                  <a:schemeClr val="accent2"/>
                </a:solidFill>
              </a:rPr>
              <a:t>35 to 44</a:t>
            </a:r>
            <a:endParaRPr lang="en-US" sz="2800" dirty="0"/>
          </a:p>
        </p:txBody>
      </p:sp>
      <p:sp>
        <p:nvSpPr>
          <p:cNvPr id="9" name="Tile label 2"/>
          <p:cNvSpPr txBox="1"/>
          <p:nvPr/>
        </p:nvSpPr>
        <p:spPr>
          <a:xfrm>
            <a:off x="640080" y="3127248"/>
            <a:ext cx="2560320" cy="274320"/>
          </a:xfrm>
          <a:prstGeom prst="rect">
            <a:avLst/>
          </a:prstGeom>
          <a:noFill/>
          <a:ln/>
        </p:spPr>
        <p:txBody>
          <a:bodyPr wrap="square" lIns="0" tIns="0" rIns="0" bIns="0" rtlCol="0" anchor="ctr"/>
          <a:lstStyle/>
          <a:p>
            <a:pPr indent="0" marL="0">
              <a:buNone/>
            </a:pPr>
            <a:r>
              <a:rPr lang="en-US" sz="1400" dirty="0">
                <a:solidFill>
                  <a:schemeClr val="tx2"/>
                </a:solidFill>
              </a:rPr>
              <a:t>columns, raw to clean</a:t>
            </a:r>
            <a:endParaRPr lang="en-US" sz="1400" dirty="0"/>
          </a:p>
        </p:txBody>
      </p:sp>
      <p:sp>
        <p:nvSpPr>
          <p:cNvPr id="10" name="Tile 3"/>
          <p:cNvSpPr/>
          <p:nvPr/>
        </p:nvSpPr>
        <p:spPr>
          <a:xfrm>
            <a:off x="457200" y="3611880"/>
            <a:ext cx="2926080" cy="914400"/>
          </a:xfrm>
          <a:prstGeom prst="roundRect">
            <a:avLst>
              <a:gd name="adj" fmla="val 10000"/>
            </a:avLst>
          </a:prstGeom>
          <a:solidFill>
            <a:schemeClr val="bg2"/>
          </a:solidFill>
          <a:ln w="12700">
            <a:solidFill>
              <a:schemeClr val="bg2"/>
            </a:solidFill>
            <a:prstDash val="solid"/>
          </a:ln>
        </p:spPr>
      </p:sp>
      <p:sp>
        <p:nvSpPr>
          <p:cNvPr id="11" name="Tile value 3"/>
          <p:cNvSpPr txBox="1"/>
          <p:nvPr/>
        </p:nvSpPr>
        <p:spPr>
          <a:xfrm>
            <a:off x="640080" y="3685032"/>
            <a:ext cx="2560320" cy="502920"/>
          </a:xfrm>
          <a:prstGeom prst="rect">
            <a:avLst/>
          </a:prstGeom>
          <a:noFill/>
          <a:ln/>
        </p:spPr>
        <p:txBody>
          <a:bodyPr wrap="square" lIns="0" tIns="0" rIns="0" bIns="0" rtlCol="0" anchor="ctr"/>
          <a:lstStyle/>
          <a:p>
            <a:pPr indent="0" marL="0">
              <a:buNone/>
            </a:pPr>
            <a:r>
              <a:rPr lang="en-US" sz="2800" b="1" dirty="0">
                <a:solidFill>
                  <a:schemeClr val="tx1"/>
                </a:solidFill>
              </a:rPr>
              <a:t>237 / 1,233</a:t>
            </a:r>
            <a:endParaRPr lang="en-US" sz="2800" dirty="0"/>
          </a:p>
        </p:txBody>
      </p:sp>
      <p:sp>
        <p:nvSpPr>
          <p:cNvPr id="12" name="Tile label 3"/>
          <p:cNvSpPr txBox="1"/>
          <p:nvPr/>
        </p:nvSpPr>
        <p:spPr>
          <a:xfrm>
            <a:off x="640080" y="4178808"/>
            <a:ext cx="2560320" cy="274320"/>
          </a:xfrm>
          <a:prstGeom prst="rect">
            <a:avLst/>
          </a:prstGeom>
          <a:noFill/>
          <a:ln/>
        </p:spPr>
        <p:txBody>
          <a:bodyPr wrap="square" lIns="0" tIns="0" rIns="0" bIns="0" rtlCol="0" anchor="ctr"/>
          <a:lstStyle/>
          <a:p>
            <a:pPr indent="0" marL="0">
              <a:buNone/>
            </a:pPr>
            <a:r>
              <a:rPr lang="en-US" sz="1400" dirty="0">
                <a:solidFill>
                  <a:schemeClr val="tx2"/>
                </a:solidFill>
              </a:rPr>
              <a:t>left / stayed</a:t>
            </a:r>
            <a:endParaRPr lang="en-US" sz="1400" dirty="0"/>
          </a:p>
        </p:txBody>
      </p:sp>
      <p:sp>
        <p:nvSpPr>
          <p:cNvPr id="13" name="Step 1"/>
          <p:cNvSpPr/>
          <p:nvPr/>
        </p:nvSpPr>
        <p:spPr>
          <a:xfrm>
            <a:off x="3749040" y="1581912"/>
            <a:ext cx="365760" cy="365760"/>
          </a:xfrm>
          <a:prstGeom prst="ellipse">
            <a:avLst/>
          </a:prstGeom>
          <a:solidFill>
            <a:schemeClr val="accent1"/>
          </a:solidFill>
          <a:ln w="12700">
            <a:solidFill>
              <a:schemeClr val="accent1"/>
            </a:solidFill>
            <a:prstDash val="solid"/>
          </a:ln>
        </p:spPr>
      </p:sp>
      <p:sp>
        <p:nvSpPr>
          <p:cNvPr id="14" name="Step number 1"/>
          <p:cNvSpPr txBox="1"/>
          <p:nvPr/>
        </p:nvSpPr>
        <p:spPr>
          <a:xfrm>
            <a:off x="3749040" y="15819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5" name="Group 1"/>
          <p:cNvSpPr txBox="1"/>
          <p:nvPr/>
        </p:nvSpPr>
        <p:spPr>
          <a:xfrm>
            <a:off x="4251960" y="1508760"/>
            <a:ext cx="4434840" cy="274320"/>
          </a:xfrm>
          <a:prstGeom prst="rect">
            <a:avLst/>
          </a:prstGeom>
          <a:noFill/>
          <a:ln/>
        </p:spPr>
        <p:txBody>
          <a:bodyPr wrap="square" lIns="0" tIns="0" rIns="0" bIns="0" rtlCol="0" anchor="ctr"/>
          <a:lstStyle/>
          <a:p>
            <a:pPr indent="0" marL="0">
              <a:buNone/>
            </a:pPr>
            <a:r>
              <a:rPr lang="en-US" sz="1400" b="1" dirty="0">
                <a:solidFill>
                  <a:schemeClr val="tx1"/>
                </a:solidFill>
              </a:rPr>
              <a:t>Personal</a:t>
            </a:r>
            <a:endParaRPr lang="en-US" sz="1400" dirty="0"/>
          </a:p>
        </p:txBody>
      </p:sp>
      <p:sp>
        <p:nvSpPr>
          <p:cNvPr id="16" name="Group detail 1"/>
          <p:cNvSpPr txBox="1"/>
          <p:nvPr/>
        </p:nvSpPr>
        <p:spPr>
          <a:xfrm>
            <a:off x="4251960" y="1764792"/>
            <a:ext cx="4434840" cy="274320"/>
          </a:xfrm>
          <a:prstGeom prst="rect">
            <a:avLst/>
          </a:prstGeom>
          <a:noFill/>
          <a:ln/>
        </p:spPr>
        <p:txBody>
          <a:bodyPr wrap="square" lIns="0" tIns="0" rIns="0" bIns="0" rtlCol="0" anchor="ctr"/>
          <a:lstStyle/>
          <a:p>
            <a:pPr indent="0" marL="0">
              <a:buNone/>
            </a:pPr>
            <a:r>
              <a:rPr lang="en-US" sz="1400" dirty="0">
                <a:solidFill>
                  <a:schemeClr val="tx2"/>
                </a:solidFill>
              </a:rPr>
              <a:t>Age, gender, marital status, education</a:t>
            </a:r>
            <a:endParaRPr lang="en-US" sz="1400" dirty="0"/>
          </a:p>
        </p:txBody>
      </p:sp>
      <p:sp>
        <p:nvSpPr>
          <p:cNvPr id="17" name="Step 2"/>
          <p:cNvSpPr/>
          <p:nvPr/>
        </p:nvSpPr>
        <p:spPr>
          <a:xfrm>
            <a:off x="3749040" y="2221992"/>
            <a:ext cx="365760" cy="365760"/>
          </a:xfrm>
          <a:prstGeom prst="ellipse">
            <a:avLst/>
          </a:prstGeom>
          <a:solidFill>
            <a:schemeClr val="accent2"/>
          </a:solidFill>
          <a:ln w="12700">
            <a:solidFill>
              <a:schemeClr val="accent2"/>
            </a:solidFill>
            <a:prstDash val="solid"/>
          </a:ln>
        </p:spPr>
      </p:sp>
      <p:sp>
        <p:nvSpPr>
          <p:cNvPr id="18" name="Step number 2"/>
          <p:cNvSpPr txBox="1"/>
          <p:nvPr/>
        </p:nvSpPr>
        <p:spPr>
          <a:xfrm>
            <a:off x="3749040" y="222199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Group 2"/>
          <p:cNvSpPr txBox="1"/>
          <p:nvPr/>
        </p:nvSpPr>
        <p:spPr>
          <a:xfrm>
            <a:off x="4251960" y="2148840"/>
            <a:ext cx="4434840" cy="274320"/>
          </a:xfrm>
          <a:prstGeom prst="rect">
            <a:avLst/>
          </a:prstGeom>
          <a:noFill/>
          <a:ln/>
        </p:spPr>
        <p:txBody>
          <a:bodyPr wrap="square" lIns="0" tIns="0" rIns="0" bIns="0" rtlCol="0" anchor="ctr"/>
          <a:lstStyle/>
          <a:p>
            <a:pPr indent="0" marL="0">
              <a:buNone/>
            </a:pPr>
            <a:r>
              <a:rPr lang="en-US" sz="1400" b="1" dirty="0">
                <a:solidFill>
                  <a:schemeClr val="tx1"/>
                </a:solidFill>
              </a:rPr>
              <a:t>Job</a:t>
            </a:r>
            <a:endParaRPr lang="en-US" sz="1400" dirty="0"/>
          </a:p>
        </p:txBody>
      </p:sp>
      <p:sp>
        <p:nvSpPr>
          <p:cNvPr id="20" name="Group detail 2"/>
          <p:cNvSpPr txBox="1"/>
          <p:nvPr/>
        </p:nvSpPr>
        <p:spPr>
          <a:xfrm>
            <a:off x="4251960" y="2404872"/>
            <a:ext cx="4434840" cy="274320"/>
          </a:xfrm>
          <a:prstGeom prst="rect">
            <a:avLst/>
          </a:prstGeom>
          <a:noFill/>
          <a:ln/>
        </p:spPr>
        <p:txBody>
          <a:bodyPr wrap="square" lIns="0" tIns="0" rIns="0" bIns="0" rtlCol="0" anchor="ctr"/>
          <a:lstStyle/>
          <a:p>
            <a:pPr indent="0" marL="0">
              <a:buNone/>
            </a:pPr>
            <a:r>
              <a:rPr lang="en-US" sz="1400" dirty="0">
                <a:solidFill>
                  <a:schemeClr val="tx2"/>
                </a:solidFill>
              </a:rPr>
              <a:t>Role, department, level, overtime, travel</a:t>
            </a:r>
            <a:endParaRPr lang="en-US" sz="1400" dirty="0"/>
          </a:p>
        </p:txBody>
      </p:sp>
      <p:sp>
        <p:nvSpPr>
          <p:cNvPr id="21" name="Step 3"/>
          <p:cNvSpPr/>
          <p:nvPr/>
        </p:nvSpPr>
        <p:spPr>
          <a:xfrm>
            <a:off x="3749040" y="2862072"/>
            <a:ext cx="365760" cy="365760"/>
          </a:xfrm>
          <a:prstGeom prst="ellipse">
            <a:avLst/>
          </a:prstGeom>
          <a:solidFill>
            <a:schemeClr val="accent3"/>
          </a:solidFill>
          <a:ln w="12700">
            <a:solidFill>
              <a:schemeClr val="accent3"/>
            </a:solidFill>
            <a:prstDash val="solid"/>
          </a:ln>
        </p:spPr>
      </p:sp>
      <p:sp>
        <p:nvSpPr>
          <p:cNvPr id="22" name="Step number 3"/>
          <p:cNvSpPr txBox="1"/>
          <p:nvPr/>
        </p:nvSpPr>
        <p:spPr>
          <a:xfrm>
            <a:off x="3749040" y="286207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3" name="Group 3"/>
          <p:cNvSpPr txBox="1"/>
          <p:nvPr/>
        </p:nvSpPr>
        <p:spPr>
          <a:xfrm>
            <a:off x="4251960" y="2788920"/>
            <a:ext cx="4434840" cy="274320"/>
          </a:xfrm>
          <a:prstGeom prst="rect">
            <a:avLst/>
          </a:prstGeom>
          <a:noFill/>
          <a:ln/>
        </p:spPr>
        <p:txBody>
          <a:bodyPr wrap="square" lIns="0" tIns="0" rIns="0" bIns="0" rtlCol="0" anchor="ctr"/>
          <a:lstStyle/>
          <a:p>
            <a:pPr indent="0" marL="0">
              <a:buNone/>
            </a:pPr>
            <a:r>
              <a:rPr lang="en-US" sz="1400" b="1" dirty="0">
                <a:solidFill>
                  <a:schemeClr val="tx1"/>
                </a:solidFill>
              </a:rPr>
              <a:t>Pay</a:t>
            </a:r>
            <a:endParaRPr lang="en-US" sz="1400" dirty="0"/>
          </a:p>
        </p:txBody>
      </p:sp>
      <p:sp>
        <p:nvSpPr>
          <p:cNvPr id="24" name="Group detail 3"/>
          <p:cNvSpPr txBox="1"/>
          <p:nvPr/>
        </p:nvSpPr>
        <p:spPr>
          <a:xfrm>
            <a:off x="4251960" y="3044952"/>
            <a:ext cx="4434840" cy="274320"/>
          </a:xfrm>
          <a:prstGeom prst="rect">
            <a:avLst/>
          </a:prstGeom>
          <a:noFill/>
          <a:ln/>
        </p:spPr>
        <p:txBody>
          <a:bodyPr wrap="square" lIns="0" tIns="0" rIns="0" bIns="0" rtlCol="0" anchor="ctr"/>
          <a:lstStyle/>
          <a:p>
            <a:pPr indent="0" marL="0">
              <a:buNone/>
            </a:pPr>
            <a:r>
              <a:rPr lang="en-US" sz="1400" dirty="0">
                <a:solidFill>
                  <a:schemeClr val="tx2"/>
                </a:solidFill>
              </a:rPr>
              <a:t>Monthly income, salary hike, stock options</a:t>
            </a:r>
            <a:endParaRPr lang="en-US" sz="1400" dirty="0"/>
          </a:p>
        </p:txBody>
      </p:sp>
      <p:sp>
        <p:nvSpPr>
          <p:cNvPr id="25" name="Step 4"/>
          <p:cNvSpPr/>
          <p:nvPr/>
        </p:nvSpPr>
        <p:spPr>
          <a:xfrm>
            <a:off x="3749040" y="3502152"/>
            <a:ext cx="365760" cy="365760"/>
          </a:xfrm>
          <a:prstGeom prst="ellipse">
            <a:avLst/>
          </a:prstGeom>
          <a:solidFill>
            <a:schemeClr val="accent4"/>
          </a:solidFill>
          <a:ln w="12700">
            <a:solidFill>
              <a:schemeClr val="accent4"/>
            </a:solidFill>
            <a:prstDash val="solid"/>
          </a:ln>
        </p:spPr>
      </p:sp>
      <p:sp>
        <p:nvSpPr>
          <p:cNvPr id="26" name="Step number 4"/>
          <p:cNvSpPr txBox="1"/>
          <p:nvPr/>
        </p:nvSpPr>
        <p:spPr>
          <a:xfrm>
            <a:off x="3749040" y="35021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Group 4"/>
          <p:cNvSpPr txBox="1"/>
          <p:nvPr/>
        </p:nvSpPr>
        <p:spPr>
          <a:xfrm>
            <a:off x="4251960" y="3429000"/>
            <a:ext cx="4434840" cy="274320"/>
          </a:xfrm>
          <a:prstGeom prst="rect">
            <a:avLst/>
          </a:prstGeom>
          <a:noFill/>
          <a:ln/>
        </p:spPr>
        <p:txBody>
          <a:bodyPr wrap="square" lIns="0" tIns="0" rIns="0" bIns="0" rtlCol="0" anchor="ctr"/>
          <a:lstStyle/>
          <a:p>
            <a:pPr indent="0" marL="0">
              <a:buNone/>
            </a:pPr>
            <a:r>
              <a:rPr lang="en-US" sz="1400" b="1" dirty="0">
                <a:solidFill>
                  <a:schemeClr val="tx1"/>
                </a:solidFill>
              </a:rPr>
              <a:t>Experience</a:t>
            </a:r>
            <a:endParaRPr lang="en-US" sz="1400" dirty="0"/>
          </a:p>
        </p:txBody>
      </p:sp>
      <p:sp>
        <p:nvSpPr>
          <p:cNvPr id="28" name="Group detail 4"/>
          <p:cNvSpPr txBox="1"/>
          <p:nvPr/>
        </p:nvSpPr>
        <p:spPr>
          <a:xfrm>
            <a:off x="4251960" y="3685032"/>
            <a:ext cx="4434840" cy="274320"/>
          </a:xfrm>
          <a:prstGeom prst="rect">
            <a:avLst/>
          </a:prstGeom>
          <a:noFill/>
          <a:ln/>
        </p:spPr>
        <p:txBody>
          <a:bodyPr wrap="square" lIns="0" tIns="0" rIns="0" bIns="0" rtlCol="0" anchor="ctr"/>
          <a:lstStyle/>
          <a:p>
            <a:pPr indent="0" marL="0">
              <a:buNone/>
            </a:pPr>
            <a:r>
              <a:rPr lang="en-US" sz="1400" dirty="0">
                <a:solidFill>
                  <a:schemeClr val="tx2"/>
                </a:solidFill>
              </a:rPr>
              <a:t>Years at company, since promotion, with manager</a:t>
            </a:r>
            <a:endParaRPr lang="en-US" sz="1400" dirty="0"/>
          </a:p>
        </p:txBody>
      </p:sp>
      <p:sp>
        <p:nvSpPr>
          <p:cNvPr id="29" name="Step 5"/>
          <p:cNvSpPr/>
          <p:nvPr/>
        </p:nvSpPr>
        <p:spPr>
          <a:xfrm>
            <a:off x="3749040" y="4142232"/>
            <a:ext cx="365760" cy="365760"/>
          </a:xfrm>
          <a:prstGeom prst="ellipse">
            <a:avLst/>
          </a:prstGeom>
          <a:solidFill>
            <a:schemeClr val="tx1"/>
          </a:solidFill>
          <a:ln w="12700">
            <a:solidFill>
              <a:schemeClr val="tx1"/>
            </a:solidFill>
            <a:prstDash val="solid"/>
          </a:ln>
        </p:spPr>
      </p:sp>
      <p:sp>
        <p:nvSpPr>
          <p:cNvPr id="30" name="Step number 5"/>
          <p:cNvSpPr txBox="1"/>
          <p:nvPr/>
        </p:nvSpPr>
        <p:spPr>
          <a:xfrm>
            <a:off x="3749040" y="414223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Group 5"/>
          <p:cNvSpPr txBox="1"/>
          <p:nvPr/>
        </p:nvSpPr>
        <p:spPr>
          <a:xfrm>
            <a:off x="4251960" y="4069080"/>
            <a:ext cx="4434840" cy="274320"/>
          </a:xfrm>
          <a:prstGeom prst="rect">
            <a:avLst/>
          </a:prstGeom>
          <a:noFill/>
          <a:ln/>
        </p:spPr>
        <p:txBody>
          <a:bodyPr wrap="square" lIns="0" tIns="0" rIns="0" bIns="0" rtlCol="0" anchor="ctr"/>
          <a:lstStyle/>
          <a:p>
            <a:pPr indent="0" marL="0">
              <a:buNone/>
            </a:pPr>
            <a:r>
              <a:rPr lang="en-US" sz="1400" b="1" dirty="0">
                <a:solidFill>
                  <a:schemeClr val="tx1"/>
                </a:solidFill>
              </a:rPr>
              <a:t>Satisfaction</a:t>
            </a:r>
            <a:endParaRPr lang="en-US" sz="1400" dirty="0"/>
          </a:p>
        </p:txBody>
      </p:sp>
      <p:sp>
        <p:nvSpPr>
          <p:cNvPr id="32" name="Group detail 5"/>
          <p:cNvSpPr txBox="1"/>
          <p:nvPr/>
        </p:nvSpPr>
        <p:spPr>
          <a:xfrm>
            <a:off x="4251960" y="4325112"/>
            <a:ext cx="4434840" cy="274320"/>
          </a:xfrm>
          <a:prstGeom prst="rect">
            <a:avLst/>
          </a:prstGeom>
          <a:noFill/>
          <a:ln/>
        </p:spPr>
        <p:txBody>
          <a:bodyPr wrap="square" lIns="0" tIns="0" rIns="0" bIns="0" rtlCol="0" anchor="ctr"/>
          <a:lstStyle/>
          <a:p>
            <a:pPr indent="0" marL="0">
              <a:buNone/>
            </a:pPr>
            <a:r>
              <a:rPr lang="en-US" sz="1400" dirty="0">
                <a:solidFill>
                  <a:schemeClr val="tx2"/>
                </a:solidFill>
              </a:rPr>
              <a:t>Job, environment, work-life balance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Cleaning the data</a:t>
            </a:r>
            <a:endParaRPr lang="en-US" sz="3400" dirty="0"/>
          </a:p>
        </p:txBody>
      </p:sp>
      <p:sp>
        <p:nvSpPr>
          <p:cNvPr id="3" name="Subtitle"/>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dirty="0">
                <a:solidFill>
                  <a:schemeClr val="tx2"/>
                </a:solidFill>
              </a:rPr>
              <a:t>Five steps, from the raw file to an analysis-ready table</a:t>
            </a:r>
            <a:endParaRPr lang="en-US" sz="1600" dirty="0"/>
          </a:p>
        </p:txBody>
      </p:sp>
      <p:sp>
        <p:nvSpPr>
          <p:cNvPr id="4" name="Clean card 1"/>
          <p:cNvSpPr/>
          <p:nvPr/>
        </p:nvSpPr>
        <p:spPr>
          <a:xfrm>
            <a:off x="457200" y="1508760"/>
            <a:ext cx="1554480" cy="2377440"/>
          </a:xfrm>
          <a:prstGeom prst="roundRect">
            <a:avLst>
              <a:gd name="adj" fmla="val 5882"/>
            </a:avLst>
          </a:prstGeom>
          <a:solidFill>
            <a:schemeClr val="bg2"/>
          </a:solidFill>
          <a:ln w="12700">
            <a:solidFill>
              <a:schemeClr val="bg2"/>
            </a:solidFill>
            <a:prstDash val="solid"/>
          </a:ln>
        </p:spPr>
      </p:sp>
      <p:sp>
        <p:nvSpPr>
          <p:cNvPr id="5" name="Step 1"/>
          <p:cNvSpPr/>
          <p:nvPr/>
        </p:nvSpPr>
        <p:spPr>
          <a:xfrm>
            <a:off x="594360" y="1645920"/>
            <a:ext cx="411480" cy="411480"/>
          </a:xfrm>
          <a:prstGeom prst="ellipse">
            <a:avLst/>
          </a:prstGeom>
          <a:solidFill>
            <a:schemeClr val="accent2"/>
          </a:solidFill>
          <a:ln w="12700">
            <a:solidFill>
              <a:schemeClr val="accent2"/>
            </a:solidFill>
            <a:prstDash val="solid"/>
          </a:ln>
        </p:spPr>
      </p:sp>
      <p:sp>
        <p:nvSpPr>
          <p:cNvPr id="6" name="Step number 1"/>
          <p:cNvSpPr txBox="1"/>
          <p:nvPr/>
        </p:nvSpPr>
        <p:spPr>
          <a:xfrm>
            <a:off x="594360"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lean title 1"/>
          <p:cNvSpPr txBox="1"/>
          <p:nvPr/>
        </p:nvSpPr>
        <p:spPr>
          <a:xfrm>
            <a:off x="594360" y="2194560"/>
            <a:ext cx="1280160" cy="365760"/>
          </a:xfrm>
          <a:prstGeom prst="rect">
            <a:avLst/>
          </a:prstGeom>
          <a:noFill/>
          <a:ln/>
        </p:spPr>
        <p:txBody>
          <a:bodyPr wrap="square" lIns="0" tIns="0" rIns="0" bIns="0" rtlCol="0" anchor="ctr"/>
          <a:lstStyle/>
          <a:p>
            <a:pPr indent="0" marL="0">
              <a:buNone/>
            </a:pPr>
            <a:r>
              <a:rPr lang="en-US" sz="1800" b="1" dirty="0">
                <a:solidFill>
                  <a:schemeClr val="tx1"/>
                </a:solidFill>
              </a:rPr>
              <a:t>Check</a:t>
            </a:r>
            <a:endParaRPr lang="en-US" sz="1800" dirty="0"/>
          </a:p>
        </p:txBody>
      </p:sp>
      <p:sp>
        <p:nvSpPr>
          <p:cNvPr id="8" name="Clean text 1"/>
          <p:cNvSpPr txBox="1"/>
          <p:nvPr/>
        </p:nvSpPr>
        <p:spPr>
          <a:xfrm>
            <a:off x="594360" y="2606040"/>
            <a:ext cx="1298448" cy="1188720"/>
          </a:xfrm>
          <a:prstGeom prst="rect">
            <a:avLst/>
          </a:prstGeom>
          <a:noFill/>
          <a:ln/>
        </p:spPr>
        <p:txBody>
          <a:bodyPr wrap="square" lIns="0" tIns="0" rIns="0" bIns="0" rtlCol="0" anchor="t"/>
          <a:lstStyle/>
          <a:p>
            <a:pPr indent="0" marL="0">
              <a:buNone/>
            </a:pPr>
            <a:r>
              <a:rPr lang="en-US" sz="1400" dirty="0">
                <a:solidFill>
                  <a:schemeClr val="tx2"/>
                </a:solidFill>
              </a:rPr>
              <a:t>0 missing values and 0 duplicate rows</a:t>
            </a:r>
            <a:endParaRPr lang="en-US" sz="1400" dirty="0"/>
          </a:p>
        </p:txBody>
      </p:sp>
      <p:sp>
        <p:nvSpPr>
          <p:cNvPr id="9" name="Clean card 2"/>
          <p:cNvSpPr/>
          <p:nvPr/>
        </p:nvSpPr>
        <p:spPr>
          <a:xfrm>
            <a:off x="2121408" y="1508760"/>
            <a:ext cx="1554480" cy="2377440"/>
          </a:xfrm>
          <a:prstGeom prst="roundRect">
            <a:avLst>
              <a:gd name="adj" fmla="val 5882"/>
            </a:avLst>
          </a:prstGeom>
          <a:solidFill>
            <a:schemeClr val="bg2"/>
          </a:solidFill>
          <a:ln w="12700">
            <a:solidFill>
              <a:schemeClr val="bg2"/>
            </a:solidFill>
            <a:prstDash val="solid"/>
          </a:ln>
        </p:spPr>
      </p:sp>
      <p:sp>
        <p:nvSpPr>
          <p:cNvPr id="10" name="Step 2"/>
          <p:cNvSpPr/>
          <p:nvPr/>
        </p:nvSpPr>
        <p:spPr>
          <a:xfrm>
            <a:off x="2258568" y="1645920"/>
            <a:ext cx="411480" cy="411480"/>
          </a:xfrm>
          <a:prstGeom prst="ellipse">
            <a:avLst/>
          </a:prstGeom>
          <a:solidFill>
            <a:schemeClr val="accent1"/>
          </a:solidFill>
          <a:ln w="12700">
            <a:solidFill>
              <a:schemeClr val="accent1"/>
            </a:solidFill>
            <a:prstDash val="solid"/>
          </a:ln>
        </p:spPr>
      </p:sp>
      <p:sp>
        <p:nvSpPr>
          <p:cNvPr id="11" name="Step number 2"/>
          <p:cNvSpPr txBox="1"/>
          <p:nvPr/>
        </p:nvSpPr>
        <p:spPr>
          <a:xfrm>
            <a:off x="2258568"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lean title 2"/>
          <p:cNvSpPr txBox="1"/>
          <p:nvPr/>
        </p:nvSpPr>
        <p:spPr>
          <a:xfrm>
            <a:off x="2258568" y="2194560"/>
            <a:ext cx="1280160" cy="365760"/>
          </a:xfrm>
          <a:prstGeom prst="rect">
            <a:avLst/>
          </a:prstGeom>
          <a:noFill/>
          <a:ln/>
        </p:spPr>
        <p:txBody>
          <a:bodyPr wrap="square" lIns="0" tIns="0" rIns="0" bIns="0" rtlCol="0" anchor="ctr"/>
          <a:lstStyle/>
          <a:p>
            <a:pPr indent="0" marL="0">
              <a:buNone/>
            </a:pPr>
            <a:r>
              <a:rPr lang="en-US" sz="1800" b="1" dirty="0">
                <a:solidFill>
                  <a:schemeClr val="tx1"/>
                </a:solidFill>
              </a:rPr>
              <a:t>Drop</a:t>
            </a:r>
            <a:endParaRPr lang="en-US" sz="1800" dirty="0"/>
          </a:p>
        </p:txBody>
      </p:sp>
      <p:sp>
        <p:nvSpPr>
          <p:cNvPr id="13" name="Clean text 2"/>
          <p:cNvSpPr txBox="1"/>
          <p:nvPr/>
        </p:nvSpPr>
        <p:spPr>
          <a:xfrm>
            <a:off x="2258568" y="2606040"/>
            <a:ext cx="1298448" cy="1188720"/>
          </a:xfrm>
          <a:prstGeom prst="rect">
            <a:avLst/>
          </a:prstGeom>
          <a:noFill/>
          <a:ln/>
        </p:spPr>
        <p:txBody>
          <a:bodyPr wrap="square" lIns="0" tIns="0" rIns="0" bIns="0" rtlCol="0" anchor="t"/>
          <a:lstStyle/>
          <a:p>
            <a:pPr indent="0" marL="0">
              <a:buNone/>
            </a:pPr>
            <a:r>
              <a:rPr lang="en-US" sz="1400" dirty="0">
                <a:solidFill>
                  <a:schemeClr val="tx2"/>
                </a:solidFill>
              </a:rPr>
              <a:t>3 constant columns removed</a:t>
            </a:r>
            <a:endParaRPr lang="en-US" sz="1400" dirty="0"/>
          </a:p>
        </p:txBody>
      </p:sp>
      <p:sp>
        <p:nvSpPr>
          <p:cNvPr id="14" name="Clean card 3"/>
          <p:cNvSpPr/>
          <p:nvPr/>
        </p:nvSpPr>
        <p:spPr>
          <a:xfrm>
            <a:off x="3785616" y="1508760"/>
            <a:ext cx="1554480" cy="2377440"/>
          </a:xfrm>
          <a:prstGeom prst="roundRect">
            <a:avLst>
              <a:gd name="adj" fmla="val 5882"/>
            </a:avLst>
          </a:prstGeom>
          <a:solidFill>
            <a:schemeClr val="bg2"/>
          </a:solidFill>
          <a:ln w="12700">
            <a:solidFill>
              <a:schemeClr val="bg2"/>
            </a:solidFill>
            <a:prstDash val="solid"/>
          </a:ln>
        </p:spPr>
      </p:sp>
      <p:sp>
        <p:nvSpPr>
          <p:cNvPr id="15" name="Step 3"/>
          <p:cNvSpPr/>
          <p:nvPr/>
        </p:nvSpPr>
        <p:spPr>
          <a:xfrm>
            <a:off x="3922776" y="1645920"/>
            <a:ext cx="411480" cy="411480"/>
          </a:xfrm>
          <a:prstGeom prst="ellipse">
            <a:avLst/>
          </a:prstGeom>
          <a:solidFill>
            <a:schemeClr val="accent3"/>
          </a:solidFill>
          <a:ln w="12700">
            <a:solidFill>
              <a:schemeClr val="accent3"/>
            </a:solidFill>
            <a:prstDash val="solid"/>
          </a:ln>
        </p:spPr>
      </p:sp>
      <p:sp>
        <p:nvSpPr>
          <p:cNvPr id="16" name="Step number 3"/>
          <p:cNvSpPr txBox="1"/>
          <p:nvPr/>
        </p:nvSpPr>
        <p:spPr>
          <a:xfrm>
            <a:off x="3922776"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Clean title 3"/>
          <p:cNvSpPr txBox="1"/>
          <p:nvPr/>
        </p:nvSpPr>
        <p:spPr>
          <a:xfrm>
            <a:off x="3922776" y="2194560"/>
            <a:ext cx="1280160" cy="365760"/>
          </a:xfrm>
          <a:prstGeom prst="rect">
            <a:avLst/>
          </a:prstGeom>
          <a:noFill/>
          <a:ln/>
        </p:spPr>
        <p:txBody>
          <a:bodyPr wrap="square" lIns="0" tIns="0" rIns="0" bIns="0" rtlCol="0" anchor="ctr"/>
          <a:lstStyle/>
          <a:p>
            <a:pPr indent="0" marL="0">
              <a:buNone/>
            </a:pPr>
            <a:r>
              <a:rPr lang="en-US" sz="1800" b="1" dirty="0">
                <a:solidFill>
                  <a:schemeClr val="tx1"/>
                </a:solidFill>
              </a:rPr>
              <a:t>Label</a:t>
            </a:r>
            <a:endParaRPr lang="en-US" sz="1800" dirty="0"/>
          </a:p>
        </p:txBody>
      </p:sp>
      <p:sp>
        <p:nvSpPr>
          <p:cNvPr id="18" name="Clean text 3"/>
          <p:cNvSpPr txBox="1"/>
          <p:nvPr/>
        </p:nvSpPr>
        <p:spPr>
          <a:xfrm>
            <a:off x="3922776" y="2606040"/>
            <a:ext cx="1298448" cy="1188720"/>
          </a:xfrm>
          <a:prstGeom prst="rect">
            <a:avLst/>
          </a:prstGeom>
          <a:noFill/>
          <a:ln/>
        </p:spPr>
        <p:txBody>
          <a:bodyPr wrap="square" lIns="0" tIns="0" rIns="0" bIns="0" rtlCol="0" anchor="t"/>
          <a:lstStyle/>
          <a:p>
            <a:pPr indent="0" marL="0">
              <a:buNone/>
            </a:pPr>
            <a:r>
              <a:rPr lang="en-US" sz="1400" dirty="0">
                <a:solidFill>
                  <a:schemeClr val="tx2"/>
                </a:solidFill>
              </a:rPr>
              <a:t>Codes 1 to 4 turned into words</a:t>
            </a:r>
            <a:endParaRPr lang="en-US" sz="1400" dirty="0"/>
          </a:p>
        </p:txBody>
      </p:sp>
      <p:sp>
        <p:nvSpPr>
          <p:cNvPr id="19" name="Clean card 4"/>
          <p:cNvSpPr/>
          <p:nvPr/>
        </p:nvSpPr>
        <p:spPr>
          <a:xfrm>
            <a:off x="5449824" y="1508760"/>
            <a:ext cx="1554480" cy="2377440"/>
          </a:xfrm>
          <a:prstGeom prst="roundRect">
            <a:avLst>
              <a:gd name="adj" fmla="val 5882"/>
            </a:avLst>
          </a:prstGeom>
          <a:solidFill>
            <a:schemeClr val="bg2"/>
          </a:solidFill>
          <a:ln w="12700">
            <a:solidFill>
              <a:schemeClr val="bg2"/>
            </a:solidFill>
            <a:prstDash val="solid"/>
          </a:ln>
        </p:spPr>
      </p:sp>
      <p:sp>
        <p:nvSpPr>
          <p:cNvPr id="20" name="Step 4"/>
          <p:cNvSpPr/>
          <p:nvPr/>
        </p:nvSpPr>
        <p:spPr>
          <a:xfrm>
            <a:off x="5586984" y="1645920"/>
            <a:ext cx="411480" cy="411480"/>
          </a:xfrm>
          <a:prstGeom prst="ellipse">
            <a:avLst/>
          </a:prstGeom>
          <a:solidFill>
            <a:schemeClr val="accent4"/>
          </a:solidFill>
          <a:ln w="12700">
            <a:solidFill>
              <a:schemeClr val="accent4"/>
            </a:solidFill>
            <a:prstDash val="solid"/>
          </a:ln>
        </p:spPr>
      </p:sp>
      <p:sp>
        <p:nvSpPr>
          <p:cNvPr id="21" name="Step number 4"/>
          <p:cNvSpPr txBox="1"/>
          <p:nvPr/>
        </p:nvSpPr>
        <p:spPr>
          <a:xfrm>
            <a:off x="5586984"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Clean title 4"/>
          <p:cNvSpPr txBox="1"/>
          <p:nvPr/>
        </p:nvSpPr>
        <p:spPr>
          <a:xfrm>
            <a:off x="5586984" y="2194560"/>
            <a:ext cx="1280160" cy="365760"/>
          </a:xfrm>
          <a:prstGeom prst="rect">
            <a:avLst/>
          </a:prstGeom>
          <a:noFill/>
          <a:ln/>
        </p:spPr>
        <p:txBody>
          <a:bodyPr wrap="square" lIns="0" tIns="0" rIns="0" bIns="0" rtlCol="0" anchor="ctr"/>
          <a:lstStyle/>
          <a:p>
            <a:pPr indent="0" marL="0">
              <a:buNone/>
            </a:pPr>
            <a:r>
              <a:rPr lang="en-US" sz="1800" b="1" dirty="0">
                <a:solidFill>
                  <a:schemeClr val="tx1"/>
                </a:solidFill>
              </a:rPr>
              <a:t>Group</a:t>
            </a:r>
            <a:endParaRPr lang="en-US" sz="1800" dirty="0"/>
          </a:p>
        </p:txBody>
      </p:sp>
      <p:sp>
        <p:nvSpPr>
          <p:cNvPr id="23" name="Clean text 4"/>
          <p:cNvSpPr txBox="1"/>
          <p:nvPr/>
        </p:nvSpPr>
        <p:spPr>
          <a:xfrm>
            <a:off x="5586984" y="2606040"/>
            <a:ext cx="1298448" cy="1188720"/>
          </a:xfrm>
          <a:prstGeom prst="rect">
            <a:avLst/>
          </a:prstGeom>
          <a:noFill/>
          <a:ln/>
        </p:spPr>
        <p:txBody>
          <a:bodyPr wrap="square" lIns="0" tIns="0" rIns="0" bIns="0" rtlCol="0" anchor="t"/>
          <a:lstStyle/>
          <a:p>
            <a:pPr indent="0" marL="0">
              <a:buNone/>
            </a:pPr>
            <a:r>
              <a:rPr lang="en-US" sz="1400" dirty="0">
                <a:solidFill>
                  <a:schemeClr val="tx2"/>
                </a:solidFill>
              </a:rPr>
              <a:t>Age, income, tenure and commute bands</a:t>
            </a:r>
            <a:endParaRPr lang="en-US" sz="1400" dirty="0"/>
          </a:p>
        </p:txBody>
      </p:sp>
      <p:sp>
        <p:nvSpPr>
          <p:cNvPr id="24" name="Clean card 5"/>
          <p:cNvSpPr/>
          <p:nvPr/>
        </p:nvSpPr>
        <p:spPr>
          <a:xfrm>
            <a:off x="7114032" y="1508760"/>
            <a:ext cx="1554480" cy="2377440"/>
          </a:xfrm>
          <a:prstGeom prst="roundRect">
            <a:avLst>
              <a:gd name="adj" fmla="val 5882"/>
            </a:avLst>
          </a:prstGeom>
          <a:solidFill>
            <a:schemeClr val="bg2"/>
          </a:solidFill>
          <a:ln w="12700">
            <a:solidFill>
              <a:schemeClr val="bg2"/>
            </a:solidFill>
            <a:prstDash val="solid"/>
          </a:ln>
        </p:spPr>
      </p:sp>
      <p:sp>
        <p:nvSpPr>
          <p:cNvPr id="25" name="Step 5"/>
          <p:cNvSpPr/>
          <p:nvPr/>
        </p:nvSpPr>
        <p:spPr>
          <a:xfrm>
            <a:off x="7251192" y="1645920"/>
            <a:ext cx="411480" cy="411480"/>
          </a:xfrm>
          <a:prstGeom prst="ellipse">
            <a:avLst/>
          </a:prstGeom>
          <a:solidFill>
            <a:schemeClr val="tx1"/>
          </a:solidFill>
          <a:ln w="12700">
            <a:solidFill>
              <a:schemeClr val="tx1"/>
            </a:solidFill>
            <a:prstDash val="solid"/>
          </a:ln>
        </p:spPr>
      </p:sp>
      <p:sp>
        <p:nvSpPr>
          <p:cNvPr id="26" name="Step number 5"/>
          <p:cNvSpPr txBox="1"/>
          <p:nvPr/>
        </p:nvSpPr>
        <p:spPr>
          <a:xfrm>
            <a:off x="7251192"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Clean title 5"/>
          <p:cNvSpPr txBox="1"/>
          <p:nvPr/>
        </p:nvSpPr>
        <p:spPr>
          <a:xfrm>
            <a:off x="7251192" y="2194560"/>
            <a:ext cx="1280160" cy="365760"/>
          </a:xfrm>
          <a:prstGeom prst="rect">
            <a:avLst/>
          </a:prstGeom>
          <a:noFill/>
          <a:ln/>
        </p:spPr>
        <p:txBody>
          <a:bodyPr wrap="square" lIns="0" tIns="0" rIns="0" bIns="0" rtlCol="0" anchor="ctr"/>
          <a:lstStyle/>
          <a:p>
            <a:pPr indent="0" marL="0">
              <a:buNone/>
            </a:pPr>
            <a:r>
              <a:rPr lang="en-US" sz="1800" b="1" dirty="0">
                <a:solidFill>
                  <a:schemeClr val="tx1"/>
                </a:solidFill>
              </a:rPr>
              <a:t>Outliers</a:t>
            </a:r>
            <a:endParaRPr lang="en-US" sz="1800" dirty="0"/>
          </a:p>
        </p:txBody>
      </p:sp>
      <p:sp>
        <p:nvSpPr>
          <p:cNvPr id="28" name="Clean text 5"/>
          <p:cNvSpPr txBox="1"/>
          <p:nvPr/>
        </p:nvSpPr>
        <p:spPr>
          <a:xfrm>
            <a:off x="7251192" y="2606040"/>
            <a:ext cx="1298448" cy="1188720"/>
          </a:xfrm>
          <a:prstGeom prst="rect">
            <a:avLst/>
          </a:prstGeom>
          <a:noFill/>
          <a:ln/>
        </p:spPr>
        <p:txBody>
          <a:bodyPr wrap="square" lIns="0" tIns="0" rIns="0" bIns="0" rtlCol="0" anchor="t"/>
          <a:lstStyle/>
          <a:p>
            <a:pPr indent="0" marL="0">
              <a:buNone/>
            </a:pPr>
            <a:r>
              <a:rPr lang="en-US" sz="1400" dirty="0">
                <a:solidFill>
                  <a:schemeClr val="tx2"/>
                </a:solidFill>
              </a:rPr>
              <a:t>Checked and kept: they are real values</a:t>
            </a:r>
            <a:endParaRPr lang="en-US" sz="1400" dirty="0"/>
          </a:p>
        </p:txBody>
      </p:sp>
      <p:sp>
        <p:nvSpPr>
          <p:cNvPr id="29" name="Result banner"/>
          <p:cNvSpPr/>
          <p:nvPr/>
        </p:nvSpPr>
        <p:spPr>
          <a:xfrm>
            <a:off x="457200" y="4069080"/>
            <a:ext cx="8229600" cy="548640"/>
          </a:xfrm>
          <a:prstGeom prst="roundRect">
            <a:avLst>
              <a:gd name="adj" fmla="val 16667"/>
            </a:avLst>
          </a:prstGeom>
          <a:solidFill>
            <a:schemeClr val="tx1"/>
          </a:solidFill>
          <a:ln w="12700">
            <a:solidFill>
              <a:schemeClr val="tx1"/>
            </a:solidFill>
            <a:prstDash val="solid"/>
          </a:ln>
        </p:spPr>
      </p:sp>
      <p:sp>
        <p:nvSpPr>
          <p:cNvPr id="30" name="Result text"/>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bg1"/>
                </a:solidFill>
              </a:rPr>
              <a:t>Result: </a:t>
            </a:r>
            <a:pPr indent="0" marL="0">
              <a:buNone/>
            </a:pPr>
            <a:r>
              <a:rPr lang="en-US" sz="1600" dirty="0">
                <a:solidFill>
                  <a:schemeClr val="bg1"/>
                </a:solidFill>
              </a:rPr>
              <a:t>1,470 rows x 44 columns, saved as HR_Attrition_Clean.csv</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How we analyzed it</a:t>
            </a:r>
            <a:endParaRPr lang="en-US" sz="3400" dirty="0"/>
          </a:p>
        </p:txBody>
      </p:sp>
      <p:sp>
        <p:nvSpPr>
          <p:cNvPr id="3" name="Subtitle"/>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dirty="0">
                <a:solidFill>
                  <a:schemeClr val="tx2"/>
                </a:solidFill>
              </a:rPr>
              <a:t>Compare groups, rank the drivers, then combine them</a:t>
            </a:r>
            <a:endParaRPr lang="en-US" sz="1600" dirty="0"/>
          </a:p>
        </p:txBody>
      </p:sp>
      <p:sp>
        <p:nvSpPr>
          <p:cNvPr id="4" name="Step 1"/>
          <p:cNvSpPr/>
          <p:nvPr/>
        </p:nvSpPr>
        <p:spPr>
          <a:xfrm>
            <a:off x="457200" y="1554480"/>
            <a:ext cx="411480" cy="411480"/>
          </a:xfrm>
          <a:prstGeom prst="ellipse">
            <a:avLst/>
          </a:prstGeom>
          <a:solidFill>
            <a:schemeClr val="accent2"/>
          </a:solidFill>
          <a:ln w="12700">
            <a:solidFill>
              <a:schemeClr val="accent2"/>
            </a:solidFill>
            <a:prstDash val="solid"/>
          </a:ln>
        </p:spPr>
      </p:sp>
      <p:sp>
        <p:nvSpPr>
          <p:cNvPr id="5" name="Step number 1"/>
          <p:cNvSpPr txBox="1"/>
          <p:nvPr/>
        </p:nvSpPr>
        <p:spPr>
          <a:xfrm>
            <a:off x="457200" y="15544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Analysis step 1"/>
          <p:cNvSpPr txBox="1"/>
          <p:nvPr/>
        </p:nvSpPr>
        <p:spPr>
          <a:xfrm>
            <a:off x="1005840" y="1508760"/>
            <a:ext cx="3566160" cy="292608"/>
          </a:xfrm>
          <a:prstGeom prst="rect">
            <a:avLst/>
          </a:prstGeom>
          <a:noFill/>
          <a:ln/>
        </p:spPr>
        <p:txBody>
          <a:bodyPr wrap="square" lIns="0" tIns="0" rIns="0" bIns="0" rtlCol="0" anchor="ctr"/>
          <a:lstStyle/>
          <a:p>
            <a:pPr indent="0" marL="0">
              <a:buNone/>
            </a:pPr>
            <a:r>
              <a:rPr lang="en-US" sz="1600" b="1" dirty="0">
                <a:solidFill>
                  <a:schemeClr val="tx1"/>
                </a:solidFill>
              </a:rPr>
              <a:t>Baseline</a:t>
            </a:r>
            <a:endParaRPr lang="en-US" sz="1600" dirty="0"/>
          </a:p>
        </p:txBody>
      </p:sp>
      <p:sp>
        <p:nvSpPr>
          <p:cNvPr id="7" name="Analysis detail 1"/>
          <p:cNvSpPr txBox="1"/>
          <p:nvPr/>
        </p:nvSpPr>
        <p:spPr>
          <a:xfrm>
            <a:off x="1005840" y="1801368"/>
            <a:ext cx="3566160" cy="457200"/>
          </a:xfrm>
          <a:prstGeom prst="rect">
            <a:avLst/>
          </a:prstGeom>
          <a:noFill/>
          <a:ln/>
        </p:spPr>
        <p:txBody>
          <a:bodyPr wrap="square" lIns="0" tIns="0" rIns="0" bIns="0" rtlCol="0" anchor="t"/>
          <a:lstStyle/>
          <a:p>
            <a:pPr indent="0" marL="0">
              <a:buNone/>
            </a:pPr>
            <a:r>
              <a:rPr lang="en-US" sz="1400" dirty="0">
                <a:solidFill>
                  <a:schemeClr val="tx2"/>
                </a:solidFill>
              </a:rPr>
              <a:t>Attrition rate = leavers / headcount = 16.1%</a:t>
            </a:r>
            <a:endParaRPr lang="en-US" sz="1400" dirty="0"/>
          </a:p>
        </p:txBody>
      </p:sp>
      <p:sp>
        <p:nvSpPr>
          <p:cNvPr id="8" name="Step 2"/>
          <p:cNvSpPr/>
          <p:nvPr/>
        </p:nvSpPr>
        <p:spPr>
          <a:xfrm>
            <a:off x="457200" y="2359152"/>
            <a:ext cx="411480" cy="411480"/>
          </a:xfrm>
          <a:prstGeom prst="ellipse">
            <a:avLst/>
          </a:prstGeom>
          <a:solidFill>
            <a:schemeClr val="accent4"/>
          </a:solidFill>
          <a:ln w="12700">
            <a:solidFill>
              <a:schemeClr val="accent4"/>
            </a:solidFill>
            <a:prstDash val="solid"/>
          </a:ln>
        </p:spPr>
      </p:sp>
      <p:sp>
        <p:nvSpPr>
          <p:cNvPr id="9" name="Step number 2"/>
          <p:cNvSpPr txBox="1"/>
          <p:nvPr/>
        </p:nvSpPr>
        <p:spPr>
          <a:xfrm>
            <a:off x="457200" y="235915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Analysis step 2"/>
          <p:cNvSpPr txBox="1"/>
          <p:nvPr/>
        </p:nvSpPr>
        <p:spPr>
          <a:xfrm>
            <a:off x="1005840" y="2313432"/>
            <a:ext cx="3566160" cy="292608"/>
          </a:xfrm>
          <a:prstGeom prst="rect">
            <a:avLst/>
          </a:prstGeom>
          <a:noFill/>
          <a:ln/>
        </p:spPr>
        <p:txBody>
          <a:bodyPr wrap="square" lIns="0" tIns="0" rIns="0" bIns="0" rtlCol="0" anchor="ctr"/>
          <a:lstStyle/>
          <a:p>
            <a:pPr indent="0" marL="0">
              <a:buNone/>
            </a:pPr>
            <a:r>
              <a:rPr lang="en-US" sz="1600" b="1" dirty="0">
                <a:solidFill>
                  <a:schemeClr val="tx1"/>
                </a:solidFill>
              </a:rPr>
              <a:t>Compare</a:t>
            </a:r>
            <a:endParaRPr lang="en-US" sz="1600" dirty="0"/>
          </a:p>
        </p:txBody>
      </p:sp>
      <p:sp>
        <p:nvSpPr>
          <p:cNvPr id="11" name="Analysis detail 2"/>
          <p:cNvSpPr txBox="1"/>
          <p:nvPr/>
        </p:nvSpPr>
        <p:spPr>
          <a:xfrm>
            <a:off x="1005840" y="2606040"/>
            <a:ext cx="3566160" cy="457200"/>
          </a:xfrm>
          <a:prstGeom prst="rect">
            <a:avLst/>
          </a:prstGeom>
          <a:noFill/>
          <a:ln/>
        </p:spPr>
        <p:txBody>
          <a:bodyPr wrap="square" lIns="0" tIns="0" rIns="0" bIns="0" rtlCol="0" anchor="t"/>
          <a:lstStyle/>
          <a:p>
            <a:pPr indent="0" marL="0">
              <a:buNone/>
            </a:pPr>
            <a:r>
              <a:rPr lang="en-US" sz="1400" dirty="0">
                <a:solidFill>
                  <a:schemeClr val="tx2"/>
                </a:solidFill>
              </a:rPr>
              <a:t>Rate by overtime, role, pay, tenure and more</a:t>
            </a:r>
            <a:endParaRPr lang="en-US" sz="1400" dirty="0"/>
          </a:p>
        </p:txBody>
      </p:sp>
      <p:sp>
        <p:nvSpPr>
          <p:cNvPr id="12" name="Step 3"/>
          <p:cNvSpPr/>
          <p:nvPr/>
        </p:nvSpPr>
        <p:spPr>
          <a:xfrm>
            <a:off x="457200" y="3163824"/>
            <a:ext cx="411480" cy="411480"/>
          </a:xfrm>
          <a:prstGeom prst="ellipse">
            <a:avLst/>
          </a:prstGeom>
          <a:solidFill>
            <a:schemeClr val="accent3"/>
          </a:solidFill>
          <a:ln w="12700">
            <a:solidFill>
              <a:schemeClr val="accent3"/>
            </a:solidFill>
            <a:prstDash val="solid"/>
          </a:ln>
        </p:spPr>
      </p:sp>
      <p:sp>
        <p:nvSpPr>
          <p:cNvPr id="13" name="Step number 3"/>
          <p:cNvSpPr txBox="1"/>
          <p:nvPr/>
        </p:nvSpPr>
        <p:spPr>
          <a:xfrm>
            <a:off x="457200" y="316382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Analysis step 3"/>
          <p:cNvSpPr txBox="1"/>
          <p:nvPr/>
        </p:nvSpPr>
        <p:spPr>
          <a:xfrm>
            <a:off x="1005840" y="3118104"/>
            <a:ext cx="3566160" cy="292608"/>
          </a:xfrm>
          <a:prstGeom prst="rect">
            <a:avLst/>
          </a:prstGeom>
          <a:noFill/>
          <a:ln/>
        </p:spPr>
        <p:txBody>
          <a:bodyPr wrap="square" lIns="0" tIns="0" rIns="0" bIns="0" rtlCol="0" anchor="ctr"/>
          <a:lstStyle/>
          <a:p>
            <a:pPr indent="0" marL="0">
              <a:buNone/>
            </a:pPr>
            <a:r>
              <a:rPr lang="en-US" sz="1600" b="1" dirty="0">
                <a:solidFill>
                  <a:schemeClr val="tx1"/>
                </a:solidFill>
              </a:rPr>
              <a:t>Rank</a:t>
            </a:r>
            <a:endParaRPr lang="en-US" sz="1600" dirty="0"/>
          </a:p>
        </p:txBody>
      </p:sp>
      <p:sp>
        <p:nvSpPr>
          <p:cNvPr id="15" name="Analysis detail 3"/>
          <p:cNvSpPr txBox="1"/>
          <p:nvPr/>
        </p:nvSpPr>
        <p:spPr>
          <a:xfrm>
            <a:off x="1005840" y="3410712"/>
            <a:ext cx="3566160" cy="457200"/>
          </a:xfrm>
          <a:prstGeom prst="rect">
            <a:avLst/>
          </a:prstGeom>
          <a:noFill/>
          <a:ln/>
        </p:spPr>
        <p:txBody>
          <a:bodyPr wrap="square" lIns="0" tIns="0" rIns="0" bIns="0" rtlCol="0" anchor="t"/>
          <a:lstStyle/>
          <a:p>
            <a:pPr indent="0" marL="0">
              <a:buNone/>
            </a:pPr>
            <a:r>
              <a:rPr lang="en-US" sz="1400" dirty="0">
                <a:solidFill>
                  <a:schemeClr val="tx2"/>
                </a:solidFill>
              </a:rPr>
              <a:t>Correlation of each number with leaving</a:t>
            </a:r>
            <a:endParaRPr lang="en-US" sz="1400" dirty="0"/>
          </a:p>
        </p:txBody>
      </p:sp>
      <p:sp>
        <p:nvSpPr>
          <p:cNvPr id="16" name="Step 4"/>
          <p:cNvSpPr/>
          <p:nvPr/>
        </p:nvSpPr>
        <p:spPr>
          <a:xfrm>
            <a:off x="457200" y="3968496"/>
            <a:ext cx="411480" cy="411480"/>
          </a:xfrm>
          <a:prstGeom prst="ellipse">
            <a:avLst/>
          </a:prstGeom>
          <a:solidFill>
            <a:schemeClr val="accent1"/>
          </a:solidFill>
          <a:ln w="12700">
            <a:solidFill>
              <a:schemeClr val="accent1"/>
            </a:solidFill>
            <a:prstDash val="solid"/>
          </a:ln>
        </p:spPr>
      </p:sp>
      <p:sp>
        <p:nvSpPr>
          <p:cNvPr id="17" name="Step number 4"/>
          <p:cNvSpPr txBox="1"/>
          <p:nvPr/>
        </p:nvSpPr>
        <p:spPr>
          <a:xfrm>
            <a:off x="457200" y="396849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Analysis step 4"/>
          <p:cNvSpPr txBox="1"/>
          <p:nvPr/>
        </p:nvSpPr>
        <p:spPr>
          <a:xfrm>
            <a:off x="1005840" y="3922776"/>
            <a:ext cx="3566160" cy="292608"/>
          </a:xfrm>
          <a:prstGeom prst="rect">
            <a:avLst/>
          </a:prstGeom>
          <a:noFill/>
          <a:ln/>
        </p:spPr>
        <p:txBody>
          <a:bodyPr wrap="square" lIns="0" tIns="0" rIns="0" bIns="0" rtlCol="0" anchor="ctr"/>
          <a:lstStyle/>
          <a:p>
            <a:pPr indent="0" marL="0">
              <a:buNone/>
            </a:pPr>
            <a:r>
              <a:rPr lang="en-US" sz="1600" b="1" dirty="0">
                <a:solidFill>
                  <a:schemeClr val="tx1"/>
                </a:solidFill>
              </a:rPr>
              <a:t>Combine</a:t>
            </a:r>
            <a:endParaRPr lang="en-US" sz="1600" dirty="0"/>
          </a:p>
        </p:txBody>
      </p:sp>
      <p:sp>
        <p:nvSpPr>
          <p:cNvPr id="19" name="Analysis detail 4"/>
          <p:cNvSpPr txBox="1"/>
          <p:nvPr/>
        </p:nvSpPr>
        <p:spPr>
          <a:xfrm>
            <a:off x="1005840" y="4215384"/>
            <a:ext cx="3566160" cy="457200"/>
          </a:xfrm>
          <a:prstGeom prst="rect">
            <a:avLst/>
          </a:prstGeom>
          <a:noFill/>
          <a:ln/>
        </p:spPr>
        <p:txBody>
          <a:bodyPr wrap="square" lIns="0" tIns="0" rIns="0" bIns="0" rtlCol="0" anchor="t"/>
          <a:lstStyle/>
          <a:p>
            <a:pPr indent="0" marL="0">
              <a:buNone/>
            </a:pPr>
            <a:r>
              <a:rPr lang="en-US" sz="1400" dirty="0">
                <a:solidFill>
                  <a:schemeClr val="tx2"/>
                </a:solidFill>
              </a:rPr>
              <a:t>Find the segment with the highest rate</a:t>
            </a:r>
            <a:endParaRPr lang="en-US" sz="1400" dirty="0"/>
          </a:p>
        </p:txBody>
      </p:sp>
      <p:sp>
        <p:nvSpPr>
          <p:cNvPr id="20" name="Chart card"/>
          <p:cNvSpPr/>
          <p:nvPr/>
        </p:nvSpPr>
        <p:spPr>
          <a:xfrm>
            <a:off x="4846320" y="1463040"/>
            <a:ext cx="3840480" cy="3200400"/>
          </a:xfrm>
          <a:prstGeom prst="roundRect">
            <a:avLst>
              <a:gd name="adj" fmla="val 2857"/>
            </a:avLst>
          </a:prstGeom>
          <a:solidFill>
            <a:schemeClr val="bg2"/>
          </a:solidFill>
          <a:ln w="12700">
            <a:solidFill>
              <a:schemeClr val="bg2"/>
            </a:solidFill>
            <a:prstDash val="solid"/>
          </a:ln>
        </p:spPr>
      </p:sp>
      <p:sp>
        <p:nvSpPr>
          <p:cNvPr id="21" name="Chart title"/>
          <p:cNvSpPr txBox="1"/>
          <p:nvPr/>
        </p:nvSpPr>
        <p:spPr>
          <a:xfrm>
            <a:off x="4983480" y="1536192"/>
            <a:ext cx="3566160" cy="320040"/>
          </a:xfrm>
          <a:prstGeom prst="rect">
            <a:avLst/>
          </a:prstGeom>
          <a:noFill/>
          <a:ln/>
        </p:spPr>
        <p:txBody>
          <a:bodyPr wrap="square" lIns="0" tIns="0" rIns="0" bIns="0" rtlCol="0" anchor="ctr"/>
          <a:lstStyle/>
          <a:p>
            <a:pPr indent="0" marL="0">
              <a:buNone/>
            </a:pPr>
            <a:r>
              <a:rPr lang="en-US" sz="1400" b="1" dirty="0">
                <a:solidFill>
                  <a:schemeClr val="tx1"/>
                </a:solidFill>
              </a:rPr>
              <a:t>Strongest numeric links to leaving</a:t>
            </a:r>
            <a:endParaRPr lang="en-US" sz="1400" dirty="0"/>
          </a:p>
        </p:txBody>
      </p:sp>
      <p:graphicFrame>
        <p:nvGraphicFramePr>
          <p:cNvPr id="22" name="Chart 0" descr=""/>
          <p:cNvGraphicFramePr/>
          <p:nvPr/>
        </p:nvGraphicFramePr>
        <p:xfrm>
          <a:off x="4937760" y="1874520"/>
          <a:ext cx="3657600" cy="2423160"/>
        </p:xfrm>
        <a:graphic xmlns:a="http://schemas.openxmlformats.org/drawingml/2006/main">
          <a:graphicData uri="http://schemas.openxmlformats.org/drawingml/2006/chart">
            <c:chart xmlns:c="http://schemas.openxmlformats.org/drawingml/2006/chart" r:id="rId1"/>
          </a:graphicData>
        </a:graphic>
      </p:graphicFrame>
      <p:sp>
        <p:nvSpPr>
          <p:cNvPr id="23" name="Chart note"/>
          <p:cNvSpPr txBox="1"/>
          <p:nvPr/>
        </p:nvSpPr>
        <p:spPr>
          <a:xfrm>
            <a:off x="4983480" y="4297680"/>
            <a:ext cx="3566160" cy="274320"/>
          </a:xfrm>
          <a:prstGeom prst="rect">
            <a:avLst/>
          </a:prstGeom>
          <a:noFill/>
          <a:ln/>
        </p:spPr>
        <p:txBody>
          <a:bodyPr wrap="square" lIns="0" tIns="0" rIns="0" bIns="0" rtlCol="0" anchor="ctr"/>
          <a:lstStyle/>
          <a:p>
            <a:pPr indent="0" marL="0">
              <a:buNone/>
            </a:pPr>
            <a:r>
              <a:rPr lang="en-US" sz="1000" dirty="0">
                <a:solidFill>
                  <a:schemeClr val="tx2"/>
                </a:solidFill>
              </a:rPr>
              <a:t>Negative = the higher the value, the less likely to leave</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1"/>
                </a:solidFill>
              </a:rPr>
              <a:t>Key findings</a:t>
            </a:r>
            <a:endParaRPr lang="en-US" sz="3400" dirty="0"/>
          </a:p>
        </p:txBody>
      </p:sp>
      <p:sp>
        <p:nvSpPr>
          <p:cNvPr id="3" name="Subtitle"/>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dirty="0">
                <a:solidFill>
                  <a:schemeClr val="tx2"/>
                </a:solidFill>
              </a:rPr>
              <a:t>Attrition rate (%) by group - overtime, low pay and the first year stand out</a:t>
            </a:r>
            <a:endParaRPr lang="en-US" sz="1600" dirty="0"/>
          </a:p>
        </p:txBody>
      </p:sp>
      <p:sp>
        <p:nvSpPr>
          <p:cNvPr id="4" name="Finding card Overtime"/>
          <p:cNvSpPr/>
          <p:nvPr/>
        </p:nvSpPr>
        <p:spPr>
          <a:xfrm>
            <a:off x="457200" y="1417320"/>
            <a:ext cx="2651760" cy="2788920"/>
          </a:xfrm>
          <a:prstGeom prst="roundRect">
            <a:avLst>
              <a:gd name="adj" fmla="val 3448"/>
            </a:avLst>
          </a:prstGeom>
          <a:solidFill>
            <a:schemeClr val="bg2"/>
          </a:solidFill>
          <a:ln w="12700">
            <a:solidFill>
              <a:schemeClr val="bg2"/>
            </a:solidFill>
            <a:prstDash val="solid"/>
          </a:ln>
        </p:spPr>
      </p:sp>
      <p:sp>
        <p:nvSpPr>
          <p:cNvPr id="5" name="Finding title Overtime"/>
          <p:cNvSpPr txBox="1"/>
          <p:nvPr/>
        </p:nvSpPr>
        <p:spPr>
          <a:xfrm>
            <a:off x="594360" y="1481328"/>
            <a:ext cx="2377440" cy="320040"/>
          </a:xfrm>
          <a:prstGeom prst="rect">
            <a:avLst/>
          </a:prstGeom>
          <a:noFill/>
          <a:ln/>
        </p:spPr>
        <p:txBody>
          <a:bodyPr wrap="square" lIns="0" tIns="0" rIns="0" bIns="0" rtlCol="0" anchor="ctr"/>
          <a:lstStyle/>
          <a:p>
            <a:pPr indent="0" marL="0">
              <a:buNone/>
            </a:pPr>
            <a:r>
              <a:rPr lang="en-US" sz="1400" b="1" dirty="0">
                <a:solidFill>
                  <a:schemeClr val="tx1"/>
                </a:solidFill>
              </a:rPr>
              <a:t>Overtime</a:t>
            </a:r>
            <a:endParaRPr lang="en-US" sz="1400" dirty="0"/>
          </a:p>
        </p:txBody>
      </p:sp>
      <p:graphicFrame>
        <p:nvGraphicFramePr>
          <p:cNvPr id="6" name="Chart 0" descr=""/>
          <p:cNvGraphicFramePr/>
          <p:nvPr/>
        </p:nvGraphicFramePr>
        <p:xfrm>
          <a:off x="502920" y="1810512"/>
          <a:ext cx="2560320" cy="2331720"/>
        </p:xfrm>
        <a:graphic xmlns:a="http://schemas.openxmlformats.org/drawingml/2006/main">
          <a:graphicData uri="http://schemas.openxmlformats.org/drawingml/2006/chart">
            <c:chart xmlns:c="http://schemas.openxmlformats.org/drawingml/2006/chart" r:id="rId1"/>
          </a:graphicData>
        </a:graphic>
      </p:graphicFrame>
      <p:sp>
        <p:nvSpPr>
          <p:cNvPr id="7" name="Finding card Monthly income (USD)"/>
          <p:cNvSpPr/>
          <p:nvPr/>
        </p:nvSpPr>
        <p:spPr>
          <a:xfrm>
            <a:off x="3246120" y="1417320"/>
            <a:ext cx="2651760" cy="2788920"/>
          </a:xfrm>
          <a:prstGeom prst="roundRect">
            <a:avLst>
              <a:gd name="adj" fmla="val 3448"/>
            </a:avLst>
          </a:prstGeom>
          <a:solidFill>
            <a:schemeClr val="bg2"/>
          </a:solidFill>
          <a:ln w="12700">
            <a:solidFill>
              <a:schemeClr val="bg2"/>
            </a:solidFill>
            <a:prstDash val="solid"/>
          </a:ln>
        </p:spPr>
      </p:sp>
      <p:sp>
        <p:nvSpPr>
          <p:cNvPr id="8" name="Finding title Monthly income (USD)"/>
          <p:cNvSpPr txBox="1"/>
          <p:nvPr/>
        </p:nvSpPr>
        <p:spPr>
          <a:xfrm>
            <a:off x="3383280" y="1481328"/>
            <a:ext cx="2377440" cy="320040"/>
          </a:xfrm>
          <a:prstGeom prst="rect">
            <a:avLst/>
          </a:prstGeom>
          <a:noFill/>
          <a:ln/>
        </p:spPr>
        <p:txBody>
          <a:bodyPr wrap="square" lIns="0" tIns="0" rIns="0" bIns="0" rtlCol="0" anchor="ctr"/>
          <a:lstStyle/>
          <a:p>
            <a:pPr indent="0" marL="0">
              <a:buNone/>
            </a:pPr>
            <a:r>
              <a:rPr lang="en-US" sz="1400" b="1" dirty="0">
                <a:solidFill>
                  <a:schemeClr val="tx1"/>
                </a:solidFill>
              </a:rPr>
              <a:t>Monthly income (USD)</a:t>
            </a:r>
            <a:endParaRPr lang="en-US" sz="1400" dirty="0"/>
          </a:p>
        </p:txBody>
      </p:sp>
      <p:graphicFrame>
        <p:nvGraphicFramePr>
          <p:cNvPr id="9" name="Chart 1" descr=""/>
          <p:cNvGraphicFramePr/>
          <p:nvPr/>
        </p:nvGraphicFramePr>
        <p:xfrm>
          <a:off x="3291840" y="1810512"/>
          <a:ext cx="2560320" cy="2331720"/>
        </p:xfrm>
        <a:graphic xmlns:a="http://schemas.openxmlformats.org/drawingml/2006/main">
          <a:graphicData uri="http://schemas.openxmlformats.org/drawingml/2006/chart">
            <c:chart xmlns:c="http://schemas.openxmlformats.org/drawingml/2006/chart" r:id="rId2"/>
          </a:graphicData>
        </a:graphic>
      </p:graphicFrame>
      <p:sp>
        <p:nvSpPr>
          <p:cNvPr id="10" name="Finding card Years at company"/>
          <p:cNvSpPr/>
          <p:nvPr/>
        </p:nvSpPr>
        <p:spPr>
          <a:xfrm>
            <a:off x="6035040" y="1417320"/>
            <a:ext cx="2651760" cy="2788920"/>
          </a:xfrm>
          <a:prstGeom prst="roundRect">
            <a:avLst>
              <a:gd name="adj" fmla="val 3448"/>
            </a:avLst>
          </a:prstGeom>
          <a:solidFill>
            <a:schemeClr val="bg2"/>
          </a:solidFill>
          <a:ln w="12700">
            <a:solidFill>
              <a:schemeClr val="bg2"/>
            </a:solidFill>
            <a:prstDash val="solid"/>
          </a:ln>
        </p:spPr>
      </p:sp>
      <p:sp>
        <p:nvSpPr>
          <p:cNvPr id="11" name="Finding title Years at company"/>
          <p:cNvSpPr txBox="1"/>
          <p:nvPr/>
        </p:nvSpPr>
        <p:spPr>
          <a:xfrm>
            <a:off x="6172200" y="1481328"/>
            <a:ext cx="2377440" cy="320040"/>
          </a:xfrm>
          <a:prstGeom prst="rect">
            <a:avLst/>
          </a:prstGeom>
          <a:noFill/>
          <a:ln/>
        </p:spPr>
        <p:txBody>
          <a:bodyPr wrap="square" lIns="0" tIns="0" rIns="0" bIns="0" rtlCol="0" anchor="ctr"/>
          <a:lstStyle/>
          <a:p>
            <a:pPr indent="0" marL="0">
              <a:buNone/>
            </a:pPr>
            <a:r>
              <a:rPr lang="en-US" sz="1400" b="1" dirty="0">
                <a:solidFill>
                  <a:schemeClr val="tx1"/>
                </a:solidFill>
              </a:rPr>
              <a:t>Years at company</a:t>
            </a:r>
            <a:endParaRPr lang="en-US" sz="1400" dirty="0"/>
          </a:p>
        </p:txBody>
      </p:sp>
      <p:graphicFrame>
        <p:nvGraphicFramePr>
          <p:cNvPr id="12" name="Chart 2" descr=""/>
          <p:cNvGraphicFramePr/>
          <p:nvPr/>
        </p:nvGraphicFramePr>
        <p:xfrm>
          <a:off x="6080760" y="1810512"/>
          <a:ext cx="2560320" cy="2331720"/>
        </p:xfrm>
        <a:graphic xmlns:a="http://schemas.openxmlformats.org/drawingml/2006/main">
          <a:graphicData uri="http://schemas.openxmlformats.org/drawingml/2006/chart">
            <c:chart xmlns:c="http://schemas.openxmlformats.org/drawingml/2006/chart" r:id="rId3"/>
          </a:graphicData>
        </a:graphic>
      </p:graphicFrame>
      <p:sp>
        <p:nvSpPr>
          <p:cNvPr id="13" name="Also high"/>
          <p:cNvSpPr txBox="1"/>
          <p:nvPr/>
        </p:nvSpPr>
        <p:spPr>
          <a:xfrm>
            <a:off x="457200" y="4315968"/>
            <a:ext cx="7680960" cy="365760"/>
          </a:xfrm>
          <a:prstGeom prst="rect">
            <a:avLst/>
          </a:prstGeom>
          <a:noFill/>
          <a:ln/>
        </p:spPr>
        <p:txBody>
          <a:bodyPr wrap="square" lIns="0" tIns="0" rIns="0" bIns="0" rtlCol="0" anchor="ctr"/>
          <a:lstStyle/>
          <a:p>
            <a:pPr indent="0" marL="0">
              <a:buNone/>
            </a:pPr>
            <a:r>
              <a:rPr lang="en-US" sz="1400" b="1" dirty="0">
                <a:solidFill>
                  <a:srgbClr val="1B2A41"/>
                </a:solidFill>
              </a:rPr>
              <a:t>Also high: </a:t>
            </a:r>
            <a:pPr indent="0" marL="0">
              <a:buNone/>
            </a:pPr>
            <a:r>
              <a:rPr lang="en-US" sz="1400" dirty="0">
                <a:solidFill>
                  <a:schemeClr val="tx2"/>
                </a:solidFill>
              </a:rPr>
              <a:t>Sales Representatives 39.8%  |  Frequent travel 24.9%  |  No stock options 24.4%</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bg1"/>
                </a:solidFill>
              </a:rPr>
              <a:t>Conclusion and plan</a:t>
            </a:r>
            <a:endParaRPr lang="en-US" sz="3400" dirty="0"/>
          </a:p>
        </p:txBody>
      </p:sp>
      <p:sp>
        <p:nvSpPr>
          <p:cNvPr id="3" name="Stat 1"/>
          <p:cNvSpPr/>
          <p:nvPr/>
        </p:nvSpPr>
        <p:spPr>
          <a:xfrm>
            <a:off x="457200" y="1051560"/>
            <a:ext cx="2651760" cy="1234440"/>
          </a:xfrm>
          <a:prstGeom prst="roundRect">
            <a:avLst>
              <a:gd name="adj" fmla="val 7407"/>
            </a:avLst>
          </a:prstGeom>
          <a:solidFill>
            <a:schemeClr val="bg1"/>
          </a:solidFill>
          <a:ln w="12700">
            <a:solidFill>
              <a:schemeClr val="bg1"/>
            </a:solidFill>
            <a:prstDash val="solid"/>
          </a:ln>
        </p:spPr>
      </p:sp>
      <p:sp>
        <p:nvSpPr>
          <p:cNvPr id="4" name="Stat value 1"/>
          <p:cNvSpPr txBox="1"/>
          <p:nvPr/>
        </p:nvSpPr>
        <p:spPr>
          <a:xfrm>
            <a:off x="457200" y="1097280"/>
            <a:ext cx="2651760" cy="731520"/>
          </a:xfrm>
          <a:prstGeom prst="rect">
            <a:avLst/>
          </a:prstGeom>
          <a:noFill/>
          <a:ln/>
        </p:spPr>
        <p:txBody>
          <a:bodyPr wrap="square" lIns="0" tIns="0" rIns="0" bIns="0" rtlCol="0" anchor="ctr"/>
          <a:lstStyle/>
          <a:p>
            <a:pPr algn="ctr" indent="0" marL="0">
              <a:buNone/>
            </a:pPr>
            <a:r>
              <a:rPr lang="en-US" sz="4400" b="1" dirty="0">
                <a:solidFill>
                  <a:schemeClr val="tx2"/>
                </a:solidFill>
              </a:rPr>
              <a:t>16.1%</a:t>
            </a:r>
            <a:endParaRPr lang="en-US" sz="4400" dirty="0"/>
          </a:p>
        </p:txBody>
      </p:sp>
      <p:sp>
        <p:nvSpPr>
          <p:cNvPr id="5" name="Stat label 1"/>
          <p:cNvSpPr txBox="1"/>
          <p:nvPr/>
        </p:nvSpPr>
        <p:spPr>
          <a:xfrm>
            <a:off x="457200" y="1828800"/>
            <a:ext cx="2651760" cy="365760"/>
          </a:xfrm>
          <a:prstGeom prst="rect">
            <a:avLst/>
          </a:prstGeom>
          <a:noFill/>
          <a:ln/>
        </p:spPr>
        <p:txBody>
          <a:bodyPr wrap="square" lIns="0" tIns="0" rIns="0" bIns="0" rtlCol="0" anchor="ctr"/>
          <a:lstStyle/>
          <a:p>
            <a:pPr algn="ctr" indent="0" marL="0">
              <a:buNone/>
            </a:pPr>
            <a:r>
              <a:rPr lang="en-US" sz="1400" dirty="0">
                <a:solidFill>
                  <a:schemeClr val="tx2"/>
                </a:solidFill>
              </a:rPr>
              <a:t>Company average</a:t>
            </a:r>
            <a:endParaRPr lang="en-US" sz="1400" dirty="0"/>
          </a:p>
        </p:txBody>
      </p:sp>
      <p:sp>
        <p:nvSpPr>
          <p:cNvPr id="6" name="Stat 2"/>
          <p:cNvSpPr/>
          <p:nvPr/>
        </p:nvSpPr>
        <p:spPr>
          <a:xfrm>
            <a:off x="3246120" y="1051560"/>
            <a:ext cx="2651760" cy="1234440"/>
          </a:xfrm>
          <a:prstGeom prst="roundRect">
            <a:avLst>
              <a:gd name="adj" fmla="val 7407"/>
            </a:avLst>
          </a:prstGeom>
          <a:solidFill>
            <a:schemeClr val="bg1"/>
          </a:solidFill>
          <a:ln w="12700">
            <a:solidFill>
              <a:schemeClr val="bg1"/>
            </a:solidFill>
            <a:prstDash val="solid"/>
          </a:ln>
        </p:spPr>
      </p:sp>
      <p:sp>
        <p:nvSpPr>
          <p:cNvPr id="7" name="Stat value 2"/>
          <p:cNvSpPr txBox="1"/>
          <p:nvPr/>
        </p:nvSpPr>
        <p:spPr>
          <a:xfrm>
            <a:off x="3246120" y="1097280"/>
            <a:ext cx="2651760" cy="731520"/>
          </a:xfrm>
          <a:prstGeom prst="rect">
            <a:avLst/>
          </a:prstGeom>
          <a:noFill/>
          <a:ln/>
        </p:spPr>
        <p:txBody>
          <a:bodyPr wrap="square" lIns="0" tIns="0" rIns="0" bIns="0" rtlCol="0" anchor="ctr"/>
          <a:lstStyle/>
          <a:p>
            <a:pPr algn="ctr" indent="0" marL="0">
              <a:buNone/>
            </a:pPr>
            <a:r>
              <a:rPr lang="en-US" sz="4400" b="1" dirty="0">
                <a:solidFill>
                  <a:schemeClr val="accent1"/>
                </a:solidFill>
              </a:rPr>
              <a:t>52.6%</a:t>
            </a:r>
            <a:endParaRPr lang="en-US" sz="4400" dirty="0"/>
          </a:p>
        </p:txBody>
      </p:sp>
      <p:sp>
        <p:nvSpPr>
          <p:cNvPr id="8" name="Stat label 2"/>
          <p:cNvSpPr txBox="1"/>
          <p:nvPr/>
        </p:nvSpPr>
        <p:spPr>
          <a:xfrm>
            <a:off x="3246120" y="1828800"/>
            <a:ext cx="2651760" cy="365760"/>
          </a:xfrm>
          <a:prstGeom prst="rect">
            <a:avLst/>
          </a:prstGeom>
          <a:noFill/>
          <a:ln/>
        </p:spPr>
        <p:txBody>
          <a:bodyPr wrap="square" lIns="0" tIns="0" rIns="0" bIns="0" rtlCol="0" anchor="ctr"/>
          <a:lstStyle/>
          <a:p>
            <a:pPr algn="ctr" indent="0" marL="0">
              <a:buNone/>
            </a:pPr>
            <a:r>
              <a:rPr lang="en-US" sz="1400" dirty="0">
                <a:solidFill>
                  <a:schemeClr val="tx2"/>
                </a:solidFill>
              </a:rPr>
              <a:t>Entry-level + overtime</a:t>
            </a:r>
            <a:endParaRPr lang="en-US" sz="1400" dirty="0"/>
          </a:p>
        </p:txBody>
      </p:sp>
      <p:sp>
        <p:nvSpPr>
          <p:cNvPr id="9" name="Stat 3"/>
          <p:cNvSpPr/>
          <p:nvPr/>
        </p:nvSpPr>
        <p:spPr>
          <a:xfrm>
            <a:off x="6035040" y="1051560"/>
            <a:ext cx="2651760" cy="1234440"/>
          </a:xfrm>
          <a:prstGeom prst="roundRect">
            <a:avLst>
              <a:gd name="adj" fmla="val 7407"/>
            </a:avLst>
          </a:prstGeom>
          <a:solidFill>
            <a:schemeClr val="bg1"/>
          </a:solidFill>
          <a:ln w="12700">
            <a:solidFill>
              <a:schemeClr val="bg1"/>
            </a:solidFill>
            <a:prstDash val="solid"/>
          </a:ln>
        </p:spPr>
      </p:sp>
      <p:sp>
        <p:nvSpPr>
          <p:cNvPr id="10" name="Stat value 3"/>
          <p:cNvSpPr txBox="1"/>
          <p:nvPr/>
        </p:nvSpPr>
        <p:spPr>
          <a:xfrm>
            <a:off x="6035040" y="1097280"/>
            <a:ext cx="2651760" cy="731520"/>
          </a:xfrm>
          <a:prstGeom prst="rect">
            <a:avLst/>
          </a:prstGeom>
          <a:noFill/>
          <a:ln/>
        </p:spPr>
        <p:txBody>
          <a:bodyPr wrap="square" lIns="0" tIns="0" rIns="0" bIns="0" rtlCol="0" anchor="ctr"/>
          <a:lstStyle/>
          <a:p>
            <a:pPr algn="ctr" indent="0" marL="0">
              <a:buNone/>
            </a:pPr>
            <a:r>
              <a:rPr lang="en-US" sz="4400" b="1" dirty="0">
                <a:solidFill>
                  <a:schemeClr val="accent2"/>
                </a:solidFill>
              </a:rPr>
              <a:t>6.9%</a:t>
            </a:r>
            <a:endParaRPr lang="en-US" sz="4400" dirty="0"/>
          </a:p>
        </p:txBody>
      </p:sp>
      <p:sp>
        <p:nvSpPr>
          <p:cNvPr id="11" name="Stat label 3"/>
          <p:cNvSpPr txBox="1"/>
          <p:nvPr/>
        </p:nvSpPr>
        <p:spPr>
          <a:xfrm>
            <a:off x="6035040" y="1828800"/>
            <a:ext cx="2651760" cy="365760"/>
          </a:xfrm>
          <a:prstGeom prst="rect">
            <a:avLst/>
          </a:prstGeom>
          <a:noFill/>
          <a:ln/>
        </p:spPr>
        <p:txBody>
          <a:bodyPr wrap="square" lIns="0" tIns="0" rIns="0" bIns="0" rtlCol="0" anchor="ctr"/>
          <a:lstStyle/>
          <a:p>
            <a:pPr algn="ctr" indent="0" marL="0">
              <a:buNone/>
            </a:pPr>
            <a:r>
              <a:rPr lang="en-US" sz="1400" dirty="0">
                <a:solidFill>
                  <a:schemeClr val="tx2"/>
                </a:solidFill>
              </a:rPr>
              <a:t>No overtime + income 5K+</a:t>
            </a:r>
            <a:endParaRPr lang="en-US" sz="1400" dirty="0"/>
          </a:p>
        </p:txBody>
      </p:sp>
      <p:sp>
        <p:nvSpPr>
          <p:cNvPr id="12" name="Action 1"/>
          <p:cNvSpPr txBox="1"/>
          <p:nvPr/>
        </p:nvSpPr>
        <p:spPr>
          <a:xfrm>
            <a:off x="457200" y="2560320"/>
            <a:ext cx="4023360" cy="320040"/>
          </a:xfrm>
          <a:prstGeom prst="rect">
            <a:avLst/>
          </a:prstGeom>
          <a:noFill/>
          <a:ln/>
        </p:spPr>
        <p:txBody>
          <a:bodyPr wrap="square" lIns="0" tIns="0" rIns="0" bIns="0" rtlCol="0" anchor="ctr"/>
          <a:lstStyle/>
          <a:p>
            <a:pPr indent="0" marL="0">
              <a:buNone/>
            </a:pPr>
            <a:r>
              <a:rPr lang="en-US" sz="1600" b="1" dirty="0">
                <a:solidFill>
                  <a:schemeClr val="accent3"/>
                </a:solidFill>
              </a:rPr>
              <a:t>1  Control overtime</a:t>
            </a:r>
            <a:endParaRPr lang="en-US" sz="1600" dirty="0"/>
          </a:p>
        </p:txBody>
      </p:sp>
      <p:sp>
        <p:nvSpPr>
          <p:cNvPr id="13" name="Action detail 1"/>
          <p:cNvSpPr txBox="1"/>
          <p:nvPr/>
        </p:nvSpPr>
        <p:spPr>
          <a:xfrm>
            <a:off x="457200" y="2880360"/>
            <a:ext cx="4023360" cy="274320"/>
          </a:xfrm>
          <a:prstGeom prst="rect">
            <a:avLst/>
          </a:prstGeom>
          <a:noFill/>
          <a:ln/>
        </p:spPr>
        <p:txBody>
          <a:bodyPr wrap="square" lIns="0" tIns="0" rIns="0" bIns="0" rtlCol="0" anchor="ctr"/>
          <a:lstStyle/>
          <a:p>
            <a:pPr indent="0" marL="0">
              <a:buNone/>
            </a:pPr>
            <a:r>
              <a:rPr lang="en-US" sz="1400" dirty="0">
                <a:solidFill>
                  <a:schemeClr val="bg1"/>
                </a:solidFill>
              </a:rPr>
              <a:t>Cap and compensate it</a:t>
            </a:r>
            <a:endParaRPr lang="en-US" sz="1400" dirty="0"/>
          </a:p>
        </p:txBody>
      </p:sp>
      <p:sp>
        <p:nvSpPr>
          <p:cNvPr id="14" name="Action 2"/>
          <p:cNvSpPr txBox="1"/>
          <p:nvPr/>
        </p:nvSpPr>
        <p:spPr>
          <a:xfrm>
            <a:off x="4663440" y="2560320"/>
            <a:ext cx="4023360" cy="320040"/>
          </a:xfrm>
          <a:prstGeom prst="rect">
            <a:avLst/>
          </a:prstGeom>
          <a:noFill/>
          <a:ln/>
        </p:spPr>
        <p:txBody>
          <a:bodyPr wrap="square" lIns="0" tIns="0" rIns="0" bIns="0" rtlCol="0" anchor="ctr"/>
          <a:lstStyle/>
          <a:p>
            <a:pPr indent="0" marL="0">
              <a:buNone/>
            </a:pPr>
            <a:r>
              <a:rPr lang="en-US" sz="1600" b="1" dirty="0">
                <a:solidFill>
                  <a:schemeClr val="accent3"/>
                </a:solidFill>
              </a:rPr>
              <a:t>2  Fix entry-level pay</a:t>
            </a:r>
            <a:endParaRPr lang="en-US" sz="1600" dirty="0"/>
          </a:p>
        </p:txBody>
      </p:sp>
      <p:sp>
        <p:nvSpPr>
          <p:cNvPr id="15" name="Action detail 2"/>
          <p:cNvSpPr txBox="1"/>
          <p:nvPr/>
        </p:nvSpPr>
        <p:spPr>
          <a:xfrm>
            <a:off x="4663440" y="2880360"/>
            <a:ext cx="4023360" cy="274320"/>
          </a:xfrm>
          <a:prstGeom prst="rect">
            <a:avLst/>
          </a:prstGeom>
          <a:noFill/>
          <a:ln/>
        </p:spPr>
        <p:txBody>
          <a:bodyPr wrap="square" lIns="0" tIns="0" rIns="0" bIns="0" rtlCol="0" anchor="ctr"/>
          <a:lstStyle/>
          <a:p>
            <a:pPr indent="0" marL="0">
              <a:buNone/>
            </a:pPr>
            <a:r>
              <a:rPr lang="en-US" sz="1400" dirty="0">
                <a:solidFill>
                  <a:schemeClr val="bg1"/>
                </a:solidFill>
              </a:rPr>
              <a:t>Market check for Level 1</a:t>
            </a:r>
            <a:endParaRPr lang="en-US" sz="1400" dirty="0"/>
          </a:p>
        </p:txBody>
      </p:sp>
      <p:sp>
        <p:nvSpPr>
          <p:cNvPr id="16" name="Action 3"/>
          <p:cNvSpPr txBox="1"/>
          <p:nvPr/>
        </p:nvSpPr>
        <p:spPr>
          <a:xfrm>
            <a:off x="457200" y="3291840"/>
            <a:ext cx="4023360" cy="320040"/>
          </a:xfrm>
          <a:prstGeom prst="rect">
            <a:avLst/>
          </a:prstGeom>
          <a:noFill/>
          <a:ln/>
        </p:spPr>
        <p:txBody>
          <a:bodyPr wrap="square" lIns="0" tIns="0" rIns="0" bIns="0" rtlCol="0" anchor="ctr"/>
          <a:lstStyle/>
          <a:p>
            <a:pPr indent="0" marL="0">
              <a:buNone/>
            </a:pPr>
            <a:r>
              <a:rPr lang="en-US" sz="1600" b="1" dirty="0">
                <a:solidFill>
                  <a:schemeClr val="accent3"/>
                </a:solidFill>
              </a:rPr>
              <a:t>3  First-year program</a:t>
            </a:r>
            <a:endParaRPr lang="en-US" sz="1600" dirty="0"/>
          </a:p>
        </p:txBody>
      </p:sp>
      <p:sp>
        <p:nvSpPr>
          <p:cNvPr id="17" name="Action detail 3"/>
          <p:cNvSpPr txBox="1"/>
          <p:nvPr/>
        </p:nvSpPr>
        <p:spPr>
          <a:xfrm>
            <a:off x="457200" y="3611880"/>
            <a:ext cx="4023360" cy="274320"/>
          </a:xfrm>
          <a:prstGeom prst="rect">
            <a:avLst/>
          </a:prstGeom>
          <a:noFill/>
          <a:ln/>
        </p:spPr>
        <p:txBody>
          <a:bodyPr wrap="square" lIns="0" tIns="0" rIns="0" bIns="0" rtlCol="0" anchor="ctr"/>
          <a:lstStyle/>
          <a:p>
            <a:pPr indent="0" marL="0">
              <a:buNone/>
            </a:pPr>
            <a:r>
              <a:rPr lang="en-US" sz="1400" dirty="0">
                <a:solidFill>
                  <a:schemeClr val="bg1"/>
                </a:solidFill>
              </a:rPr>
              <a:t>Onboarding, mentor, check-ins</a:t>
            </a:r>
            <a:endParaRPr lang="en-US" sz="1400" dirty="0"/>
          </a:p>
        </p:txBody>
      </p:sp>
      <p:sp>
        <p:nvSpPr>
          <p:cNvPr id="18" name="Action 4"/>
          <p:cNvSpPr txBox="1"/>
          <p:nvPr/>
        </p:nvSpPr>
        <p:spPr>
          <a:xfrm>
            <a:off x="4663440" y="3291840"/>
            <a:ext cx="4023360" cy="320040"/>
          </a:xfrm>
          <a:prstGeom prst="rect">
            <a:avLst/>
          </a:prstGeom>
          <a:noFill/>
          <a:ln/>
        </p:spPr>
        <p:txBody>
          <a:bodyPr wrap="square" lIns="0" tIns="0" rIns="0" bIns="0" rtlCol="0" anchor="ctr"/>
          <a:lstStyle/>
          <a:p>
            <a:pPr indent="0" marL="0">
              <a:buNone/>
            </a:pPr>
            <a:r>
              <a:rPr lang="en-US" sz="1600" b="1" dirty="0">
                <a:solidFill>
                  <a:schemeClr val="accent3"/>
                </a:solidFill>
              </a:rPr>
              <a:t>4  Build a stake</a:t>
            </a:r>
            <a:endParaRPr lang="en-US" sz="1600" dirty="0"/>
          </a:p>
        </p:txBody>
      </p:sp>
      <p:sp>
        <p:nvSpPr>
          <p:cNvPr id="19" name="Action detail 4"/>
          <p:cNvSpPr txBox="1"/>
          <p:nvPr/>
        </p:nvSpPr>
        <p:spPr>
          <a:xfrm>
            <a:off x="4663440" y="3611880"/>
            <a:ext cx="4023360" cy="274320"/>
          </a:xfrm>
          <a:prstGeom prst="rect">
            <a:avLst/>
          </a:prstGeom>
          <a:noFill/>
          <a:ln/>
        </p:spPr>
        <p:txBody>
          <a:bodyPr wrap="square" lIns="0" tIns="0" rIns="0" bIns="0" rtlCol="0" anchor="ctr"/>
          <a:lstStyle/>
          <a:p>
            <a:pPr indent="0" marL="0">
              <a:buNone/>
            </a:pPr>
            <a:r>
              <a:rPr lang="en-US" sz="1400" dirty="0">
                <a:solidFill>
                  <a:schemeClr val="bg1"/>
                </a:solidFill>
              </a:rPr>
              <a:t>Stock options, less travel</a:t>
            </a:r>
            <a:endParaRPr lang="en-US" sz="1400" dirty="0"/>
          </a:p>
        </p:txBody>
      </p:sp>
      <p:sp>
        <p:nvSpPr>
          <p:cNvPr id="20" name="Scenario"/>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400" b="1" dirty="0">
                <a:solidFill>
                  <a:srgbClr val="E9A23B"/>
                </a:solidFill>
              </a:rPr>
              <a:t>Scenario: </a:t>
            </a:r>
            <a:pPr indent="0" marL="0">
              <a:buNone/>
            </a:pPr>
            <a:r>
              <a:rPr lang="en-US" sz="1400" dirty="0">
                <a:solidFill>
                  <a:schemeClr val="bg1"/>
                </a:solidFill>
              </a:rPr>
              <a:t>cutting attrition by one third in the overtime + under-5K group saves about 29 people (16.1% to 14.1%).</a:t>
            </a:r>
            <a:endParaRPr lang="en-US" sz="1400" dirty="0"/>
          </a:p>
        </p:txBody>
      </p:sp>
    </p:spTree>
  </p:cSld>
  <p:clrMapOvr>
    <a:masterClrMapping/>
  </p:clrMapOvr>
</p:sld>
</file>

<file path=ppt/theme/theme1.xml><?xml version="1.0" encoding="utf-8"?>
<a:theme xmlns:a="http://schemas.openxmlformats.org/drawingml/2006/main" name="HR Attrition">
  <a:themeElements>
    <a:clrScheme name="HR Attrition">
      <a:dk1>
        <a:srgbClr val="1B2A41"/>
      </a:dk1>
      <a:lt1>
        <a:srgbClr val="FFFFFF"/>
      </a:lt1>
      <a:dk2>
        <a:srgbClr val="44546A"/>
      </a:dk2>
      <a:lt2>
        <a:srgbClr val="EEF2F6"/>
      </a:lt2>
      <a:accent1>
        <a:srgbClr val="D1495B"/>
      </a:accent1>
      <a:accent2>
        <a:srgbClr val="2A9D8F"/>
      </a:accent2>
      <a:accent3>
        <a:srgbClr val="E9A23B"/>
      </a:accent3>
      <a:accent4>
        <a:srgbClr val="8D99AE"/>
      </a:accent4>
      <a:accent5>
        <a:srgbClr val="1B2A41"/>
      </a:accent5>
      <a:accent6>
        <a:srgbClr val="B8C1CC"/>
      </a:accent6>
      <a:hlink>
        <a:srgbClr val="2A9D8F"/>
      </a:hlink>
      <a:folHlink>
        <a:srgbClr val="8D99AE"/>
      </a:folHlink>
    </a:clrScheme>
    <a:fontScheme name="HR Attri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Employee Attrition</dc:title>
  <dc:subject>PptxGenJS Presentation</dc:subject>
  <dc:creator>PptxGenJS</dc:creator>
  <cp:lastModifiedBy>PptxGenJS</cp:lastModifiedBy>
  <cp:revision>1</cp:revision>
  <dcterms:created xsi:type="dcterms:W3CDTF">2026-10-25T14:51:16Z</dcterms:created>
  <dcterms:modified xsi:type="dcterms:W3CDTF">2026-10-25T14:51:16Z</dcterms:modified>
</cp:coreProperties>
</file>